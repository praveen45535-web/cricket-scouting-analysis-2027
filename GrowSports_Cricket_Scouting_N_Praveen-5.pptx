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8"/>
    <p:sldId id="278" r:id="rId29"/>
    <p:sldId id="279" r:id="rId30"/>
    <p:sldId id="280" r:id="rId31"/>
    <p:sldId id="281" r:id="rId32"/>
    <p:sldId id="282" r:id="rId33"/>
    <p:sldId id="293" r:id="rId44"/>
    <p:sldId id="294" r:id="rId45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5" r:id="rId46"/>
    <p:sldId id="296" r:id="rId47"/>
    <p:sldId id="297" r:id="rId48"/>
    <p:sldId id="298" r:id="rId49"/>
    <p:sldId id="299" r:id="rId50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%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Average</c:v>
                  </c:pt>
                  <c:pt idx="1">
                    <c:v>Strike Rate</c:v>
                  </c:pt>
                  <c:pt idx="2">
                    <c:v>Recent Form</c:v>
                  </c:pt>
                  <c:pt idx="3">
                    <c:v>Role</c:v>
                  </c:pt>
                  <c:pt idx="4">
                    <c:v>Fielding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3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%</c:v>
                </c:pt>
              </c:strCache>
            </c:strRef>
          </c:tx>
          <c:spPr>
            <a:solidFill>
              <a:srgbClr val="FFC7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Bowling Avg</c:v>
                  </c:pt>
                  <c:pt idx="1">
                    <c:v>Economy</c:v>
                  </c:pt>
                  <c:pt idx="2">
                    <c:v>Bowling SR</c:v>
                  </c:pt>
                  <c:pt idx="3">
                    <c:v>Recent Form</c:v>
                  </c:pt>
                  <c:pt idx="4">
                    <c:v>Role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3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BSI</c:v>
                </c:pt>
              </c:strCache>
            </c:strRef>
          </c:tx>
          <c:spPr>
            <a:solidFill>
              <a:srgbClr val="0B6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Josh Philippe</c:v>
                  </c:pt>
                  <c:pt idx="1">
                    <c:v>Jake Fraser-McGurk</c:v>
                  </c:pt>
                  <c:pt idx="2">
                    <c:v>Ollie Davies</c:v>
                  </c:pt>
                  <c:pt idx="3">
                    <c:v>Nathan McSweeney</c:v>
                  </c:pt>
                  <c:pt idx="4">
                    <c:v>Jake Weatherald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87.02</c:v>
                </c:pt>
                <c:pt idx="1">
                  <c:v>52.72</c:v>
                </c:pt>
                <c:pt idx="2">
                  <c:v>43.59</c:v>
                </c:pt>
                <c:pt idx="3">
                  <c:v>39.84</c:v>
                </c:pt>
                <c:pt idx="4">
                  <c:v>29.03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323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BoSI</c:v>
                </c:pt>
              </c:strCache>
            </c:strRef>
          </c:tx>
          <c:spPr>
            <a:solidFill>
              <a:srgbClr val="FFC7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Lance Morris</c:v>
                  </c:pt>
                  <c:pt idx="1">
                    <c:v>Fergus O'Neill</c:v>
                  </c:pt>
                  <c:pt idx="2">
                    <c:v>Xavier Bartlett</c:v>
                  </c:pt>
                  <c:pt idx="3">
                    <c:v>Spencer Johnson</c:v>
                  </c:pt>
                  <c:pt idx="4">
                    <c:v>Brendan Doggett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92.38</c:v>
                </c:pt>
                <c:pt idx="1">
                  <c:v>74.12</c:v>
                </c:pt>
                <c:pt idx="2">
                  <c:v>51.99</c:v>
                </c:pt>
                <c:pt idx="3">
                  <c:v>44.22</c:v>
                </c:pt>
                <c:pt idx="4">
                  <c:v>36.03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323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chart" Target="../charts/chart1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chart" Target="../charts/chart2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1.png"/><Relationship Id="rId4" Type="http://schemas.openxmlformats.org/officeDocument/2006/relationships/image" Target="../media/image-19-1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2.png"/><Relationship Id="rId4" Type="http://schemas.openxmlformats.org/officeDocument/2006/relationships/image" Target="../media/image-21-2.png"/><Relationship Id="rId5" Type="http://schemas.openxmlformats.org/officeDocument/2006/relationships/image" Target="../media/image-21-2.png"/><Relationship Id="rId6" Type="http://schemas.openxmlformats.org/officeDocument/2006/relationships/image" Target="../media/image-2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88952" cy="1965960"/>
          </a:xfrm>
          <a:prstGeom prst="rect">
            <a:avLst/>
          </a:prstGeom>
          <a:solidFill>
            <a:srgbClr val="062A1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914400" y="4892040"/>
            <a:ext cx="1188720" cy="1965960"/>
          </a:xfrm>
          <a:prstGeom prst="rect">
            <a:avLst/>
          </a:prstGeom>
          <a:solidFill>
            <a:srgbClr val="0A4433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463040" y="4892040"/>
            <a:ext cx="1188720" cy="1965960"/>
          </a:xfrm>
          <a:prstGeom prst="rect">
            <a:avLst/>
          </a:prstGeom>
          <a:solidFill>
            <a:srgbClr val="0A4433">
              <a:alpha val="45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840480" y="4892040"/>
            <a:ext cx="1188720" cy="1965960"/>
          </a:xfrm>
          <a:prstGeom prst="rect">
            <a:avLst/>
          </a:prstGeom>
          <a:solidFill>
            <a:srgbClr val="0A4433">
              <a:alpha val="45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217920" y="4892040"/>
            <a:ext cx="1188720" cy="1965960"/>
          </a:xfrm>
          <a:prstGeom prst="rect">
            <a:avLst/>
          </a:prstGeom>
          <a:solidFill>
            <a:srgbClr val="0A4433">
              <a:alpha val="45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595360" y="4892040"/>
            <a:ext cx="1188720" cy="1965960"/>
          </a:xfrm>
          <a:prstGeom prst="rect">
            <a:avLst/>
          </a:prstGeom>
          <a:solidFill>
            <a:srgbClr val="0A4433">
              <a:alpha val="45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972800" y="4892040"/>
            <a:ext cx="1188720" cy="1965960"/>
          </a:xfrm>
          <a:prstGeom prst="rect">
            <a:avLst/>
          </a:prstGeom>
          <a:solidFill>
            <a:srgbClr val="0A4433">
              <a:alpha val="45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640080"/>
            <a:ext cx="868680" cy="868680"/>
          </a:xfrm>
          <a:prstGeom prst="ellipse">
            <a:avLst/>
          </a:prstGeom>
          <a:solidFill>
            <a:srgbClr val="0F5A40"/>
          </a:solidFill>
          <a:ln/>
        </p:spPr>
        <p:txBody>
          <a:bodyPr/>
          <a:p/>
        </p:txBody>
      </p:sp>
      <p:pic>
        <p:nvPicPr>
          <p:cNvPr id="10" name="Image 0" descr="/home/claude/cricket_deck/icons/cricket_ba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728" y="753008"/>
            <a:ext cx="642823" cy="64282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736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1965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Australian ODI Talent Scouting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2027 World Cup Planning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704088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analysis of Australian domestic One-Day Cup performances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04088" y="5257800"/>
            <a:ext cx="2304288" cy="512064"/>
          </a:xfrm>
          <a:prstGeom prst="roundRect">
            <a:avLst>
              <a:gd name="adj" fmla="val 50000"/>
            </a:avLst>
          </a:prstGeom>
          <a:solidFill>
            <a:srgbClr val="0F5A40"/>
          </a:solidFill>
          <a:ln w="12700">
            <a:solidFill>
              <a:srgbClr val="1C7A57"/>
            </a:solidFill>
            <a:prstDash val="solid"/>
          </a:ln>
        </p:spPr>
        <p:txBody>
          <a:bodyPr/>
          <a:p/>
        </p:txBody>
      </p:sp>
      <p:pic>
        <p:nvPicPr>
          <p:cNvPr id="15" name="Image 1" descr="/home/claude/cricket_deck/icons/cricket_ba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538581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61288" y="5257800"/>
            <a:ext cx="1801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Jupyter Notebook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9544" y="5257800"/>
            <a:ext cx="2381098" cy="512064"/>
          </a:xfrm>
          <a:prstGeom prst="roundRect">
            <a:avLst>
              <a:gd name="adj" fmla="val 50000"/>
            </a:avLst>
          </a:prstGeom>
          <a:solidFill>
            <a:srgbClr val="0F5A40"/>
          </a:solidFill>
          <a:ln w="12700">
            <a:solidFill>
              <a:srgbClr val="1C7A57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/home/claude/cricket_deck/icons/targe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538581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666744" y="5257800"/>
            <a:ext cx="18781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&amp; BoSI Scouting Models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791810" y="5257800"/>
            <a:ext cx="2304288" cy="512064"/>
          </a:xfrm>
          <a:prstGeom prst="roundRect">
            <a:avLst>
              <a:gd name="adj" fmla="val 50000"/>
            </a:avLst>
          </a:prstGeom>
          <a:solidFill>
            <a:srgbClr val="0F5A40"/>
          </a:solidFill>
          <a:ln w="12700">
            <a:solidFill>
              <a:srgbClr val="1C7A57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/home/claude/cricket_deck/icons/chart_col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826" y="538581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49010" y="5257800"/>
            <a:ext cx="1801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Analytics Dashboard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8297266" y="5257800"/>
            <a:ext cx="1843430" cy="512064"/>
          </a:xfrm>
          <a:prstGeom prst="roundRect">
            <a:avLst>
              <a:gd name="adj" fmla="val 50000"/>
            </a:avLst>
          </a:prstGeom>
          <a:solidFill>
            <a:srgbClr val="0F5A40"/>
          </a:solidFill>
          <a:ln w="12700">
            <a:solidFill>
              <a:srgbClr val="1C7A57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/home/claude/cricket_deck/icons/flag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5282" y="538581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754466" y="5257800"/>
            <a:ext cx="13405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Squad Planning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04088" y="4267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N. Praveen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Scouting Challenge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EAF4E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30552"/>
            <a:ext cx="822960" cy="82296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6" name="Image 0" descr="/home/claude/cricket_deck/icons/flag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385" y="2237537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2082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Pipeline Under Pressure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965960" y="2404872"/>
            <a:ext cx="9098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needs a strong pipeline of players capable of supporting the ODI squad as the 2027 World Cup approaches.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410712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EAF4EF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666744"/>
            <a:ext cx="822960" cy="82296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1" name="Image 1" descr="/home/claude/cricket_deck/icons/sca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5" y="3773729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355701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to Compare Fairly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965960" y="3941064"/>
            <a:ext cx="9098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scouting becomes difficult when comparing players across seasons, roles, and recent form.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946904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EAF4EF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5202936"/>
            <a:ext cx="822960" cy="82296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6" name="Image 2" descr="/home/claude/cricket_deck/icons/magnify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5" y="5309921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509320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Question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965960" y="5477256"/>
            <a:ext cx="9098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domestic One-Day Cup delivery data be transformed into a transparent, repeatable scouting model?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185416"/>
            <a:ext cx="749808" cy="749808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6" name="Image 0" descr="/home/claude/cricket_deck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011" y="2282891"/>
            <a:ext cx="554858" cy="554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39112"/>
            <a:ext cx="3886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Australian domestic One-Day Cup delivery-level data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87452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83096" y="2185416"/>
            <a:ext cx="749808" cy="749808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0" name="Image 1" descr="/home/claude/cricket_deck/icons/chart_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571" y="2282891"/>
            <a:ext cx="554858" cy="5548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2039112"/>
            <a:ext cx="3886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batting, bowling, recent-form and fielding indicators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447288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59536" y="3758184"/>
            <a:ext cx="749808" cy="749808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4" name="Image 2" descr="/home/claude/cricket_deck/icons/targ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11" y="3855659"/>
            <a:ext cx="554858" cy="55485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83080" y="3611880"/>
            <a:ext cx="3886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BSI (Batting Scouting Index) and BoSI (Bowling Scouting Index)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63640" y="3447288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83096" y="3758184"/>
            <a:ext cx="749808" cy="749808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8" name="Image 3" descr="/home/claude/cricket_deck/icons/podium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571" y="3855659"/>
            <a:ext cx="554858" cy="55485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06640" y="3611880"/>
            <a:ext cx="3886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shortlisted players using a consistent framework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5020056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59536" y="5330952"/>
            <a:ext cx="749808" cy="749808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22" name="Image 4" descr="/home/claude/cricket_deck/icons/fla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011" y="5428427"/>
            <a:ext cx="554858" cy="55485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83080" y="5184648"/>
            <a:ext cx="3886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2027 ODI squad and succession planning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263640" y="5020056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83096" y="5330952"/>
            <a:ext cx="749808" cy="749808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26" name="Image 5" descr="/home/claude/cricket_deck/icons/cod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0571" y="5428427"/>
            <a:ext cx="554858" cy="55485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06640" y="5184648"/>
            <a:ext cx="3886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reproducible Python/Jupyter and Excel workflow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3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domestic One-Day Cup — ball-by-ball delivery records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F5A40"/>
          </a:solidFill>
          <a:ln w="12700">
            <a:solidFill>
              <a:srgbClr val="1C7A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57,513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47288" y="2148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F5A40"/>
          </a:solidFill>
          <a:ln w="12700">
            <a:solidFill>
              <a:srgbClr val="1C7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23317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84448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4496" y="2148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F5A40"/>
          </a:solidFill>
          <a:ln w="12700">
            <a:solidFill>
              <a:srgbClr val="1C7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23317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91656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61704" y="2148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F5A40"/>
          </a:solidFill>
          <a:ln w="12700">
            <a:solidFill>
              <a:srgbClr val="1C7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61704" y="23317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2025/26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98864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Observed Season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0A4433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7365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domestic One-Day Cup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480560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LEVEL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47365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Ball-by-ball / delivery level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01000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01000" y="47365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2020/21 – 2025/26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Variables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78608" cy="310896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5336" y="2121408"/>
            <a:ext cx="768096" cy="768096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6" name="Image 0" descr="/home/claude/cricket_deck/icons/fl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188" y="2221260"/>
            <a:ext cx="568391" cy="5683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6324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&amp; Context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ID, season, date, venue, innings and ball.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01568" y="1874520"/>
            <a:ext cx="2578608" cy="310896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06824" y="2121408"/>
            <a:ext cx="768096" cy="768096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1" name="Image 1" descr="/home/claude/cricket_deck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676" y="2221260"/>
            <a:ext cx="568391" cy="5683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306324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Players &amp; Teams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84448" y="3611880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team, bowling team, striker, non-striker and bowler.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63056" y="1874520"/>
            <a:ext cx="2578608" cy="310896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68312" y="2121408"/>
            <a:ext cx="768096" cy="768096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6" name="Image 2" descr="/home/claude/cricket_deck/icons/cricket_b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164" y="2221260"/>
            <a:ext cx="568391" cy="5683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306324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Batting &amp; Extras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45936" y="3611880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 bat, wides, no-balls, byes, leg-byes and penalties.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24544" y="1874520"/>
            <a:ext cx="2578608" cy="310896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29800" y="2121408"/>
            <a:ext cx="768096" cy="768096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21" name="Image 3" descr="/home/claude/cricket_deck/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9652" y="2221260"/>
            <a:ext cx="568391" cy="5683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61704" y="306324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Wickets &amp; Fielding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07424" y="3611880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 type, dismissed player and fielder information.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521208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EAF4EF"/>
          </a:solidFill>
          <a:ln/>
        </p:spPr>
      </p:sp>
      <p:pic>
        <p:nvPicPr>
          <p:cNvPr id="25" name="Image 4" descr="/home/claude/cricket_deck/icons/layers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39496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25880" y="52120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Delivery-level structure allows player statistics to be reconstructed from underlying events.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0B6E4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103120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Delivery Data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47088" y="2103120"/>
            <a:ext cx="1750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22130" y="210312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0B6E4F"/>
          </a:solidFill>
          <a:ln/>
        </p:spPr>
      </p:sp>
      <p:sp>
        <p:nvSpPr>
          <p:cNvPr id="8" name="Text 6"/>
          <p:cNvSpPr/>
          <p:nvPr/>
        </p:nvSpPr>
        <p:spPr>
          <a:xfrm>
            <a:off x="1976410" y="2103120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29138" y="2103120"/>
            <a:ext cx="1750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04181" y="210312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0B6E4F"/>
          </a:solidFill>
          <a:ln/>
        </p:spPr>
      </p:sp>
      <p:sp>
        <p:nvSpPr>
          <p:cNvPr id="11" name="Text 9"/>
          <p:cNvSpPr/>
          <p:nvPr/>
        </p:nvSpPr>
        <p:spPr>
          <a:xfrm>
            <a:off x="3358461" y="2103120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1189" y="2103120"/>
            <a:ext cx="1750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86231" y="210312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0B6E4F"/>
          </a:solidFill>
          <a:ln/>
        </p:spPr>
      </p:sp>
      <p:sp>
        <p:nvSpPr>
          <p:cNvPr id="14" name="Text 12"/>
          <p:cNvSpPr/>
          <p:nvPr/>
        </p:nvSpPr>
        <p:spPr>
          <a:xfrm>
            <a:off x="4740511" y="2103120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93239" y="2103120"/>
            <a:ext cx="1750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68281" y="210312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0B6E4F"/>
          </a:solidFill>
          <a:ln/>
        </p:spPr>
      </p:sp>
      <p:sp>
        <p:nvSpPr>
          <p:cNvPr id="17" name="Text 15"/>
          <p:cNvSpPr/>
          <p:nvPr/>
        </p:nvSpPr>
        <p:spPr>
          <a:xfrm>
            <a:off x="6122561" y="2103120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75289" y="2103120"/>
            <a:ext cx="1750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50331" y="210312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0B6E4F"/>
          </a:solidFill>
          <a:ln/>
        </p:spPr>
      </p:sp>
      <p:sp>
        <p:nvSpPr>
          <p:cNvPr id="20" name="Text 18"/>
          <p:cNvSpPr/>
          <p:nvPr/>
        </p:nvSpPr>
        <p:spPr>
          <a:xfrm>
            <a:off x="7504611" y="2103120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57339" y="2103120"/>
            <a:ext cx="1750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32382" y="210312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0B6E4F"/>
          </a:solidFill>
          <a:ln/>
        </p:spPr>
      </p:sp>
      <p:sp>
        <p:nvSpPr>
          <p:cNvPr id="23" name="Text 21"/>
          <p:cNvSpPr/>
          <p:nvPr/>
        </p:nvSpPr>
        <p:spPr>
          <a:xfrm>
            <a:off x="8886662" y="2103120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Form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139390" y="2103120"/>
            <a:ext cx="1750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314432" y="210312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FFC72C"/>
          </a:solidFill>
          <a:ln/>
        </p:spPr>
      </p:sp>
      <p:sp>
        <p:nvSpPr>
          <p:cNvPr id="26" name="Text 24"/>
          <p:cNvSpPr/>
          <p:nvPr/>
        </p:nvSpPr>
        <p:spPr>
          <a:xfrm>
            <a:off x="10268712" y="2103120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/ BoSI</a:t>
            </a:r>
            <a:endParaRPr lang="en-US" sz="1050" dirty="0"/>
          </a:p>
        </p:txBody>
      </p:sp>
      <p:pic>
        <p:nvPicPr>
          <p:cNvPr id="27" name="Image 0" descr="/home/claude/cricket_deck/icons/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30168"/>
            <a:ext cx="310896" cy="31089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51560" y="3611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 —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 excluded from balls faced.</a:t>
            </a:r>
            <a:endParaRPr lang="en-US" sz="1200" dirty="0"/>
          </a:p>
        </p:txBody>
      </p:sp>
      <p:pic>
        <p:nvPicPr>
          <p:cNvPr id="29" name="Image 1" descr="/home/claude/cricket_deck/icon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630168"/>
            <a:ext cx="310896" cy="31089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583680" y="3611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 —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 and no-balls excluded from legal-ball calculations.</a:t>
            </a:r>
            <a:endParaRPr lang="en-US" sz="1200" dirty="0"/>
          </a:p>
        </p:txBody>
      </p:sp>
      <p:pic>
        <p:nvPicPr>
          <p:cNvPr id="31" name="Image 2" descr="/home/claude/cricket_deck/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864608"/>
            <a:ext cx="310896" cy="31089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051560" y="4846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Byes / Leg-byes  —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charged to the bowler.</a:t>
            </a:r>
            <a:endParaRPr lang="en-US" sz="1200" dirty="0"/>
          </a:p>
        </p:txBody>
      </p:sp>
      <p:pic>
        <p:nvPicPr>
          <p:cNvPr id="33" name="Image 3" descr="/home/claude/cricket_deck/icons/warning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864608"/>
            <a:ext cx="310896" cy="31089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583680" y="4846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Horizon  —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is a future planning year; the observed dataset ends at 2025/26.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/ Jupyter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1540" y="2286000"/>
            <a:ext cx="0" cy="256032"/>
          </a:xfrm>
          <a:prstGeom prst="line">
            <a:avLst/>
          </a:prstGeom>
          <a:noFill/>
          <a:ln w="25400">
            <a:solidFill>
              <a:srgbClr val="BFE2D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371600" y="17830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validate the supplied dataset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1540" y="3044952"/>
            <a:ext cx="0" cy="256032"/>
          </a:xfrm>
          <a:prstGeom prst="line">
            <a:avLst/>
          </a:prstGeom>
          <a:noFill/>
          <a:ln w="25400">
            <a:solidFill>
              <a:srgbClr val="BFE2D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371600" y="254203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dates, numeric fields and player-name references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300984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1540" y="3803904"/>
            <a:ext cx="0" cy="256032"/>
          </a:xfrm>
          <a:prstGeom prst="line">
            <a:avLst/>
          </a:prstGeom>
          <a:noFill/>
          <a:ln w="25400">
            <a:solidFill>
              <a:srgbClr val="BFE2D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371600" y="33009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delivery records into player-level batting and bowling statistics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059936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1540" y="4562856"/>
            <a:ext cx="0" cy="256032"/>
          </a:xfrm>
          <a:prstGeom prst="line">
            <a:avLst/>
          </a:prstGeom>
          <a:noFill/>
          <a:ln w="25400">
            <a:solidFill>
              <a:srgbClr val="BFE2D2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371600" y="405993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recent-form indicators using the latest five available matches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4818888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18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1540" y="5321808"/>
            <a:ext cx="0" cy="256032"/>
          </a:xfrm>
          <a:prstGeom prst="line">
            <a:avLst/>
          </a:prstGeom>
          <a:noFill/>
          <a:ln w="25400">
            <a:solidFill>
              <a:srgbClr val="BFE2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371600" y="481888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metrics and calculate BSI/BoSI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502920" cy="502920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55778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rankings, tables and visual outputs to Excel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10195560" y="1783080"/>
            <a:ext cx="1280160" cy="1280160"/>
          </a:xfrm>
          <a:prstGeom prst="ellipse">
            <a:avLst/>
          </a:prstGeom>
          <a:solidFill>
            <a:srgbClr val="073B29"/>
          </a:solidFill>
          <a:ln/>
        </p:spPr>
      </p:sp>
      <p:pic>
        <p:nvPicPr>
          <p:cNvPr id="28" name="Image 0" descr="/home/claude/cricket_deck/icons/pytho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1981" y="1949501"/>
            <a:ext cx="947318" cy="94731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Batting Analysis</a:t>
            </a:r>
            <a:endParaRPr lang="en-US" sz="3000" dirty="0"/>
          </a:p>
        </p:txBody>
      </p:sp>
      <p:pic>
        <p:nvPicPr>
          <p:cNvPr id="4" name="Image 0" descr="/home/claude/cricket_deck/icons/cricket_ba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928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874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Runs, balls faced, batting average and strike rate</a:t>
            </a:r>
            <a:endParaRPr lang="en-US" sz="1300" dirty="0"/>
          </a:p>
        </p:txBody>
      </p:sp>
      <p:pic>
        <p:nvPicPr>
          <p:cNvPr id="6" name="Image 1" descr="/home/claude/cricket_deck/icons/cricket_bat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7860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2560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Fours and sixes as additional scoring indicators</a:t>
            </a:r>
            <a:endParaRPr lang="en-US" sz="1300" dirty="0"/>
          </a:p>
        </p:txBody>
      </p:sp>
      <p:pic>
        <p:nvPicPr>
          <p:cNvPr id="8" name="Image 2" descr="/home/claude/cricket_deck/icons/cricket_bat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64408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32461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batting performance from the latest five available matches</a:t>
            </a:r>
            <a:endParaRPr lang="en-US" sz="1300" dirty="0"/>
          </a:p>
        </p:txBody>
      </p:sp>
      <p:pic>
        <p:nvPicPr>
          <p:cNvPr id="10" name="Image 3" descr="/home/claude/cricket_deck/icons/cricket_bat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39319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Fielding contribution and role suitability incorporated into the framework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672084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WEIGHT COMPOSITION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583680" y="214884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Shape 7"/>
          <p:cNvSpPr/>
          <p:nvPr/>
        </p:nvSpPr>
        <p:spPr>
          <a:xfrm>
            <a:off x="640080" y="4983480"/>
            <a:ext cx="5486400" cy="1005840"/>
          </a:xfrm>
          <a:prstGeom prst="roundRect">
            <a:avLst>
              <a:gd name="adj" fmla="val 8182"/>
            </a:avLst>
          </a:prstGeom>
          <a:solidFill>
            <a:srgbClr val="EAF4EF"/>
          </a:solidFill>
          <a:ln/>
        </p:spPr>
      </p:sp>
      <p:sp>
        <p:nvSpPr>
          <p:cNvPr id="15" name="Text 8"/>
          <p:cNvSpPr/>
          <p:nvPr/>
        </p:nvSpPr>
        <p:spPr>
          <a:xfrm>
            <a:off x="822960" y="49834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73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BSI = 0.30×Avg + 0.25×SR + 0.20×Form + 0.15×Role + 0.10×Fielding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Bowling Analysis</a:t>
            </a:r>
            <a:endParaRPr lang="en-US" sz="3000" dirty="0"/>
          </a:p>
        </p:txBody>
      </p:sp>
      <p:pic>
        <p:nvPicPr>
          <p:cNvPr id="4" name="Image 0" descr="/home/claude/cricket_deck/icons/targe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928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874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balls, overs, runs conceded and wickets</a:t>
            </a:r>
            <a:endParaRPr lang="en-US" sz="1300" dirty="0"/>
          </a:p>
        </p:txBody>
      </p:sp>
      <p:pic>
        <p:nvPicPr>
          <p:cNvPr id="6" name="Image 1" descr="/home/claude/cricket_deck/icons/target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7860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2560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average, economy rate and bowling strike rate</a:t>
            </a:r>
            <a:endParaRPr lang="en-US" sz="1300" dirty="0"/>
          </a:p>
        </p:txBody>
      </p:sp>
      <p:pic>
        <p:nvPicPr>
          <p:cNvPr id="8" name="Image 2" descr="/home/claude/cricket_deck/icons/target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64408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32461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wickets and economy indicators</a:t>
            </a:r>
            <a:endParaRPr lang="en-US" sz="1300" dirty="0"/>
          </a:p>
        </p:txBody>
      </p:sp>
      <p:pic>
        <p:nvPicPr>
          <p:cNvPr id="10" name="Image 3" descr="/home/claude/cricket_deck/icons/target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39319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Fielding contribution and role suitability support the wider assessment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672084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BoSI WEIGHT COMPOSITION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583680" y="214884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Shape 7"/>
          <p:cNvSpPr/>
          <p:nvPr/>
        </p:nvSpPr>
        <p:spPr>
          <a:xfrm>
            <a:off x="640080" y="4983480"/>
            <a:ext cx="5486400" cy="1005840"/>
          </a:xfrm>
          <a:prstGeom prst="roundRect">
            <a:avLst>
              <a:gd name="adj" fmla="val 8182"/>
            </a:avLst>
          </a:prstGeom>
          <a:solidFill>
            <a:srgbClr val="EAF4EF"/>
          </a:solidFill>
          <a:ln/>
        </p:spPr>
      </p:sp>
      <p:sp>
        <p:nvSpPr>
          <p:cNvPr id="15" name="Text 8"/>
          <p:cNvSpPr/>
          <p:nvPr/>
        </p:nvSpPr>
        <p:spPr>
          <a:xfrm>
            <a:off x="822960" y="49834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73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BoSI = 0.30×Avg + 0.25×Econ + 0.20×SR + 0.15×Form + 0.10×Role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Normalisation &amp; Scoring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78608" cy="2606040"/>
          </a:xfrm>
          <a:prstGeom prst="roundRect">
            <a:avLst>
              <a:gd name="adj" fmla="val 3546"/>
            </a:avLst>
          </a:prstGeom>
          <a:solidFill>
            <a:srgbClr val="0B6E4F"/>
          </a:solidFill>
          <a:ln/>
        </p:spPr>
      </p:sp>
      <p:sp>
        <p:nvSpPr>
          <p:cNvPr id="5" name="Shape 3"/>
          <p:cNvSpPr/>
          <p:nvPr/>
        </p:nvSpPr>
        <p:spPr>
          <a:xfrm>
            <a:off x="1563624" y="2148840"/>
            <a:ext cx="731520" cy="731520"/>
          </a:xfrm>
          <a:prstGeom prst="ellipse">
            <a:avLst/>
          </a:prstGeom>
          <a:solidFill>
            <a:srgbClr val="0F5A40"/>
          </a:solidFill>
          <a:ln/>
        </p:spPr>
      </p:sp>
      <p:pic>
        <p:nvPicPr>
          <p:cNvPr id="6" name="Image 0" descr="/home/claude/cricket_deck/icons/filter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8722" y="224393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1752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Min-Max Normalisation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player statistics are converted to a common comparative scale.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01568" y="1920240"/>
            <a:ext cx="2578608" cy="2606040"/>
          </a:xfrm>
          <a:prstGeom prst="roundRect">
            <a:avLst>
              <a:gd name="adj" fmla="val 3546"/>
            </a:avLst>
          </a:prstGeom>
          <a:solidFill>
            <a:srgbClr val="073B29"/>
          </a:solidFill>
          <a:ln/>
        </p:spPr>
      </p:sp>
      <p:sp>
        <p:nvSpPr>
          <p:cNvPr id="10" name="Shape 7"/>
          <p:cNvSpPr/>
          <p:nvPr/>
        </p:nvSpPr>
        <p:spPr>
          <a:xfrm>
            <a:off x="4325112" y="2148840"/>
            <a:ext cx="731520" cy="731520"/>
          </a:xfrm>
          <a:prstGeom prst="ellipse">
            <a:avLst/>
          </a:prstGeom>
          <a:solidFill>
            <a:srgbClr val="0F5A40"/>
          </a:solidFill>
          <a:ln/>
        </p:spPr>
      </p:sp>
      <p:pic>
        <p:nvPicPr>
          <p:cNvPr id="11" name="Image 1" descr="/home/claude/cricket_deck/icons/chart_lin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210" y="224393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301752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Higher-Is-Better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84448" y="352044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Higher-is-better metrics receive higher normalised values.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63056" y="1920240"/>
            <a:ext cx="2578608" cy="2606040"/>
          </a:xfrm>
          <a:prstGeom prst="roundRect">
            <a:avLst>
              <a:gd name="adj" fmla="val 3546"/>
            </a:avLst>
          </a:prstGeom>
          <a:solidFill>
            <a:srgbClr val="0B6E4F"/>
          </a:solidFill>
          <a:ln/>
        </p:spPr>
      </p:sp>
      <p:sp>
        <p:nvSpPr>
          <p:cNvPr id="15" name="Shape 11"/>
          <p:cNvSpPr/>
          <p:nvPr/>
        </p:nvSpPr>
        <p:spPr>
          <a:xfrm>
            <a:off x="7086600" y="2148840"/>
            <a:ext cx="731520" cy="731520"/>
          </a:xfrm>
          <a:prstGeom prst="ellipse">
            <a:avLst/>
          </a:prstGeom>
          <a:solidFill>
            <a:srgbClr val="0F5A40"/>
          </a:solidFill>
          <a:ln/>
        </p:spPr>
      </p:sp>
      <p:pic>
        <p:nvPicPr>
          <p:cNvPr id="16" name="Image 2" descr="/home/claude/cricket_deck/icons/rotat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698" y="2243938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301752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Reverse-Scaled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45936" y="352044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Lower-is-better bowling metrics are reversed so better performance scores higher.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24544" y="1920240"/>
            <a:ext cx="2578608" cy="2606040"/>
          </a:xfrm>
          <a:prstGeom prst="roundRect">
            <a:avLst>
              <a:gd name="adj" fmla="val 3546"/>
            </a:avLst>
          </a:prstGeom>
          <a:solidFill>
            <a:srgbClr val="073B29"/>
          </a:solidFill>
          <a:ln/>
        </p:spPr>
      </p:sp>
      <p:sp>
        <p:nvSpPr>
          <p:cNvPr id="20" name="Shape 15"/>
          <p:cNvSpPr/>
          <p:nvPr/>
        </p:nvSpPr>
        <p:spPr>
          <a:xfrm>
            <a:off x="9848088" y="2148840"/>
            <a:ext cx="731520" cy="731520"/>
          </a:xfrm>
          <a:prstGeom prst="ellipse">
            <a:avLst/>
          </a:prstGeom>
          <a:solidFill>
            <a:srgbClr val="0F5A40"/>
          </a:solidFill>
          <a:ln/>
        </p:spPr>
      </p:sp>
      <p:pic>
        <p:nvPicPr>
          <p:cNvPr id="21" name="Image 3" descr="/home/claude/cricket_deck/icons/sca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186" y="2243938"/>
            <a:ext cx="541325" cy="5413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61704" y="301752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Sum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07424" y="352044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components are summed to produce BSI or BoSI.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800600"/>
            <a:ext cx="10881360" cy="1005840"/>
          </a:xfrm>
          <a:prstGeom prst="roundRect">
            <a:avLst>
              <a:gd name="adj" fmla="val 8182"/>
            </a:avLst>
          </a:prstGeom>
          <a:solidFill>
            <a:srgbClr val="EAF4EF"/>
          </a:solidFill>
          <a:ln/>
        </p:spPr>
      </p:sp>
      <p:pic>
        <p:nvPicPr>
          <p:cNvPr id="25" name="Image 4" descr="/home/claude/cricket_deck/icons/lightbulb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2920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48006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comparative scouting measures within the selected player group — not official selection ratings.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BSI Results — Top Batters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492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82880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073B29"/>
          </a:solidFill>
          <a:ln/>
        </p:spPr>
      </p:sp>
      <p:sp>
        <p:nvSpPr>
          <p:cNvPr id="6" name="Shape 3"/>
          <p:cNvSpPr/>
          <p:nvPr/>
        </p:nvSpPr>
        <p:spPr>
          <a:xfrm>
            <a:off x="7635240" y="2048256"/>
            <a:ext cx="960120" cy="960120"/>
          </a:xfrm>
          <a:prstGeom prst="ellipse">
            <a:avLst/>
          </a:prstGeom>
          <a:solidFill>
            <a:srgbClr val="0F5A40"/>
          </a:solidFill>
          <a:ln/>
        </p:spPr>
      </p:sp>
      <p:pic>
        <p:nvPicPr>
          <p:cNvPr id="7" name="Image 0" descr="/home/claude/cricket_deck/icons/trophy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056" y="2173072"/>
            <a:ext cx="710489" cy="7104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78240" y="19933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Josh Philippe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778240" y="2331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BSI in the comparison group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778240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87.02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7406640" y="3520440"/>
            <a:ext cx="4160520" cy="2240280"/>
          </a:xfrm>
          <a:prstGeom prst="roundRect">
            <a:avLst>
              <a:gd name="adj" fmla="val 4082"/>
            </a:avLst>
          </a:prstGeom>
          <a:solidFill>
            <a:srgbClr val="EAF4EF"/>
          </a:solidFill>
          <a:ln/>
        </p:spPr>
      </p:sp>
      <p:sp>
        <p:nvSpPr>
          <p:cNvPr id="12" name="Text 8"/>
          <p:cNvSpPr/>
          <p:nvPr/>
        </p:nvSpPr>
        <p:spPr>
          <a:xfrm>
            <a:off x="76352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SHORTLIST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635240" y="39502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001000" y="3950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Philippe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424160" y="39502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35240" y="4297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00100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 Fraser-McGurk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424160" y="4297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52.72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635240" y="46451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001000" y="4645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Ollie Davies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0424160" y="46451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43.59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635240" y="499262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001000" y="49926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 McSweeney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0424160" y="49926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39.84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635240" y="53400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001000" y="53400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 Weatherald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0424160" y="53400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29.03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BoSI Results — Top Bowlers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492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82880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073B29"/>
          </a:solidFill>
          <a:ln/>
        </p:spPr>
      </p:sp>
      <p:sp>
        <p:nvSpPr>
          <p:cNvPr id="6" name="Shape 3"/>
          <p:cNvSpPr/>
          <p:nvPr/>
        </p:nvSpPr>
        <p:spPr>
          <a:xfrm>
            <a:off x="7635240" y="2048256"/>
            <a:ext cx="960120" cy="960120"/>
          </a:xfrm>
          <a:prstGeom prst="ellipse">
            <a:avLst/>
          </a:prstGeom>
          <a:solidFill>
            <a:srgbClr val="0F5A40"/>
          </a:solidFill>
          <a:ln/>
        </p:spPr>
      </p:sp>
      <p:pic>
        <p:nvPicPr>
          <p:cNvPr id="7" name="Image 0" descr="/home/claude/cricket_deck/icons/trophy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056" y="2173072"/>
            <a:ext cx="710489" cy="7104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78240" y="19933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 Morris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778240" y="2331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BoSI in the comparison group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778240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92.38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7406640" y="3520440"/>
            <a:ext cx="4160520" cy="2240280"/>
          </a:xfrm>
          <a:prstGeom prst="roundRect">
            <a:avLst>
              <a:gd name="adj" fmla="val 4082"/>
            </a:avLst>
          </a:prstGeom>
          <a:solidFill>
            <a:srgbClr val="EAF4EF"/>
          </a:solidFill>
          <a:ln/>
        </p:spPr>
      </p:sp>
      <p:sp>
        <p:nvSpPr>
          <p:cNvPr id="12" name="Text 8"/>
          <p:cNvSpPr/>
          <p:nvPr/>
        </p:nvSpPr>
        <p:spPr>
          <a:xfrm>
            <a:off x="76352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SHORTLIST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635240" y="39502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001000" y="3950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Morris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424160" y="39502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92.38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35240" y="4297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00100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Fergus O'Neill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424160" y="4297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74.12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635240" y="46451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001000" y="4645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Bartlett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0424160" y="46451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51.99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635240" y="499262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001000" y="49926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Spencer Johnson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0424160" y="49926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44.22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635240" y="53400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001000" y="53400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Brendan Doggett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0424160" y="53400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36.03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3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F5A40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47672"/>
            <a:ext cx="548640" cy="548640"/>
          </a:xfrm>
          <a:prstGeom prst="ellipse">
            <a:avLst/>
          </a:prstGeom>
          <a:solidFill>
            <a:srgbClr val="0A4433"/>
          </a:solidFill>
          <a:ln/>
        </p:spPr>
      </p:sp>
      <p:pic>
        <p:nvPicPr>
          <p:cNvPr id="6" name="Image 0" descr="/home/claude/cricket_deck/icons/star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571" y="2018995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Philippe is the highest-ranked batter in the selected BSI comparison.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F5A40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" y="2862072"/>
            <a:ext cx="548640" cy="548640"/>
          </a:xfrm>
          <a:prstGeom prst="ellipse">
            <a:avLst/>
          </a:prstGeom>
          <a:solidFill>
            <a:srgbClr val="0A4433"/>
          </a:solidFill>
          <a:ln/>
        </p:spPr>
      </p:sp>
      <p:pic>
        <p:nvPicPr>
          <p:cNvPr id="10" name="Image 1" descr="/home/claude/cricket_deck/icons/sta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71" y="2933395"/>
            <a:ext cx="405994" cy="405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7432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Morris is the highest-ranked bowler in the selected BoSI comparison.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6576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F5A40"/>
          </a:solidFill>
          <a:ln/>
        </p:spPr>
      </p:sp>
      <p:sp>
        <p:nvSpPr>
          <p:cNvPr id="13" name="Shape 9"/>
          <p:cNvSpPr/>
          <p:nvPr/>
        </p:nvSpPr>
        <p:spPr>
          <a:xfrm>
            <a:off x="841248" y="3776472"/>
            <a:ext cx="548640" cy="548640"/>
          </a:xfrm>
          <a:prstGeom prst="ellipse">
            <a:avLst/>
          </a:prstGeom>
          <a:solidFill>
            <a:srgbClr val="0A4433"/>
          </a:solidFill>
          <a:ln/>
        </p:spPr>
      </p:sp>
      <p:pic>
        <p:nvPicPr>
          <p:cNvPr id="14" name="Image 2" descr="/home/claude/cricket_deck/icons/users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" y="3847795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6576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creates multiple backup and development options rather than relying on one player.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45720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F5A40"/>
          </a:solidFill>
          <a:ln/>
        </p:spPr>
      </p:sp>
      <p:sp>
        <p:nvSpPr>
          <p:cNvPr id="17" name="Shape 12"/>
          <p:cNvSpPr/>
          <p:nvPr/>
        </p:nvSpPr>
        <p:spPr>
          <a:xfrm>
            <a:off x="841248" y="4690872"/>
            <a:ext cx="548640" cy="548640"/>
          </a:xfrm>
          <a:prstGeom prst="ellipse">
            <a:avLst/>
          </a:prstGeom>
          <a:solidFill>
            <a:srgbClr val="0A4433"/>
          </a:solidFill>
          <a:ln/>
        </p:spPr>
      </p:sp>
      <p:pic>
        <p:nvPicPr>
          <p:cNvPr id="18" name="Image 3" descr="/home/claude/cricket_deck/icons/fir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71" y="4762195"/>
            <a:ext cx="405994" cy="4059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5720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form has a meaningful influence on both scouting indices.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F5A40"/>
          </a:solidFill>
          <a:ln/>
        </p:spPr>
      </p:sp>
      <p:sp>
        <p:nvSpPr>
          <p:cNvPr id="21" name="Shape 15"/>
          <p:cNvSpPr/>
          <p:nvPr/>
        </p:nvSpPr>
        <p:spPr>
          <a:xfrm>
            <a:off x="841248" y="5605272"/>
            <a:ext cx="548640" cy="548640"/>
          </a:xfrm>
          <a:prstGeom prst="ellipse">
            <a:avLst/>
          </a:prstGeom>
          <a:solidFill>
            <a:srgbClr val="0A4433"/>
          </a:solidFill>
          <a:ln/>
        </p:spPr>
      </p:sp>
      <p:pic>
        <p:nvPicPr>
          <p:cNvPr id="22" name="Image 4" descr="/home/claude/cricket_deck/icons/scal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" y="5676595"/>
            <a:ext cx="405994" cy="40599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54864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selection should combine analytics with role balance, fitness, availability and selector judgement.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 Planning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EAF4E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6" name="Image 0" descr="/home/claude/cricket_deck/icons/calend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610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Evidence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2020/21 – 2025/26 domestic performance.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inputs: BSI, BoSI, recent form and role suitability.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4480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inputs: role balance, squad depth, pace-bowling options, succession, fitness and availability.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7223760" cy="1691640"/>
          </a:xfrm>
          <a:prstGeom prst="roundRect">
            <a:avLst>
              <a:gd name="adj" fmla="val 5405"/>
            </a:avLst>
          </a:prstGeom>
          <a:solidFill>
            <a:srgbClr val="0B6E4F"/>
          </a:solidFill>
          <a:ln/>
        </p:spPr>
      </p:sp>
      <p:sp>
        <p:nvSpPr>
          <p:cNvPr id="12" name="Shape 9"/>
          <p:cNvSpPr/>
          <p:nvPr/>
        </p:nvSpPr>
        <p:spPr>
          <a:xfrm>
            <a:off x="4526280" y="2011680"/>
            <a:ext cx="777240" cy="777240"/>
          </a:xfrm>
          <a:prstGeom prst="ellipse">
            <a:avLst/>
          </a:prstGeom>
          <a:solidFill>
            <a:srgbClr val="0F5A40"/>
          </a:solidFill>
          <a:ln/>
        </p:spPr>
      </p:sp>
      <p:pic>
        <p:nvPicPr>
          <p:cNvPr id="13" name="Image 1" descr="/home/claude/cricket_deck/icons/journey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321" y="2112721"/>
            <a:ext cx="575158" cy="5751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965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Future Planning Horizon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40680" y="237744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is a future planning horizon, not an observed statistical season in the supplied dataset. The model supports planning; it does not predict exact 2027 statistics.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297680" y="3703320"/>
            <a:ext cx="7223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26280" y="3886200"/>
            <a:ext cx="777240" cy="777240"/>
          </a:xfrm>
          <a:prstGeom prst="ellipse">
            <a:avLst/>
          </a:prstGeom>
          <a:solidFill>
            <a:srgbClr val="EAF4EF"/>
          </a:solidFill>
          <a:ln/>
        </p:spPr>
      </p:sp>
      <p:pic>
        <p:nvPicPr>
          <p:cNvPr id="18" name="Image 2" descr="/home/claude/cricket_deck/icons/bullseye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321" y="3987241"/>
            <a:ext cx="575158" cy="5751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40680" y="3840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Evidence to Decision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440680" y="425196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domestic form (2020/21–2025/26) + BSI/BoSI scoring feed directly into role balance and succession planning for the 2027 World Cup cycle.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3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Australia's Modern ODI XI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93008" cy="566928"/>
          </a:xfrm>
          <a:prstGeom prst="roundRect">
            <a:avLst>
              <a:gd name="adj" fmla="val 11290"/>
            </a:avLst>
          </a:prstGeom>
          <a:solidFill>
            <a:srgbClr val="0F5A4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56232"/>
            <a:ext cx="420624" cy="42062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810512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Travis Head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61872" y="2075688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Batter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441448"/>
            <a:ext cx="3493008" cy="566928"/>
          </a:xfrm>
          <a:prstGeom prst="roundRect">
            <a:avLst>
              <a:gd name="adj" fmla="val 11290"/>
            </a:avLst>
          </a:prstGeom>
          <a:solidFill>
            <a:srgbClr val="0F5A4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514600"/>
            <a:ext cx="420624" cy="42062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61872" y="2468880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Mitchell Marsh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61872" y="2734056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Batter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099816"/>
            <a:ext cx="3493008" cy="566928"/>
          </a:xfrm>
          <a:prstGeom prst="roundRect">
            <a:avLst>
              <a:gd name="adj" fmla="val 11290"/>
            </a:avLst>
          </a:prstGeom>
          <a:solidFill>
            <a:srgbClr val="0F5A4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172968"/>
            <a:ext cx="420624" cy="42062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3127248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Marnus Labuschagne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61872" y="3392424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Top-Order Batter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758184"/>
            <a:ext cx="3493008" cy="566928"/>
          </a:xfrm>
          <a:prstGeom prst="roundRect">
            <a:avLst>
              <a:gd name="adj" fmla="val 11290"/>
            </a:avLst>
          </a:prstGeom>
          <a:solidFill>
            <a:srgbClr val="0F5A40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831336"/>
            <a:ext cx="420624" cy="42062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61872" y="3785616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Cameron Green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61872" y="4050792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Middle-Order Batter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416552"/>
            <a:ext cx="3493008" cy="566928"/>
          </a:xfrm>
          <a:prstGeom prst="roundRect">
            <a:avLst>
              <a:gd name="adj" fmla="val 11290"/>
            </a:avLst>
          </a:prstGeom>
          <a:solidFill>
            <a:srgbClr val="0F5A4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489704"/>
            <a:ext cx="420624" cy="42062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61872" y="4443984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Inglis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61872" y="4709160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Wicketkeeper-Batter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5074920"/>
            <a:ext cx="3493008" cy="566928"/>
          </a:xfrm>
          <a:prstGeom prst="roundRect">
            <a:avLst>
              <a:gd name="adj" fmla="val 11290"/>
            </a:avLst>
          </a:prstGeom>
          <a:solidFill>
            <a:srgbClr val="0F5A40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5148072"/>
            <a:ext cx="420624" cy="42062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148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61872" y="5102352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Hardie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61872" y="5367528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All-Rounder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34256" y="1783080"/>
            <a:ext cx="3493008" cy="566928"/>
          </a:xfrm>
          <a:prstGeom prst="roundRect">
            <a:avLst>
              <a:gd name="adj" fmla="val 11290"/>
            </a:avLst>
          </a:prstGeom>
          <a:solidFill>
            <a:srgbClr val="0F5A40"/>
          </a:solidFill>
          <a:ln/>
        </p:spPr>
      </p:sp>
      <p:sp>
        <p:nvSpPr>
          <p:cNvPr id="35" name="Shape 33"/>
          <p:cNvSpPr/>
          <p:nvPr/>
        </p:nvSpPr>
        <p:spPr>
          <a:xfrm>
            <a:off x="4425696" y="1856232"/>
            <a:ext cx="420624" cy="42062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36" name="Text 34"/>
          <p:cNvSpPr/>
          <p:nvPr/>
        </p:nvSpPr>
        <p:spPr>
          <a:xfrm>
            <a:off x="4425696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56048" y="1810512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 Connolly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956048" y="2075688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All-Rounder / Spin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34256" y="2441448"/>
            <a:ext cx="3493008" cy="566928"/>
          </a:xfrm>
          <a:prstGeom prst="roundRect">
            <a:avLst>
              <a:gd name="adj" fmla="val 11290"/>
            </a:avLst>
          </a:prstGeom>
          <a:solidFill>
            <a:srgbClr val="0F5A40"/>
          </a:solidFill>
          <a:ln/>
        </p:spPr>
      </p:sp>
      <p:sp>
        <p:nvSpPr>
          <p:cNvPr id="40" name="Shape 38"/>
          <p:cNvSpPr/>
          <p:nvPr/>
        </p:nvSpPr>
        <p:spPr>
          <a:xfrm>
            <a:off x="4425696" y="2514600"/>
            <a:ext cx="420624" cy="42062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41" name="Text 39"/>
          <p:cNvSpPr/>
          <p:nvPr/>
        </p:nvSpPr>
        <p:spPr>
          <a:xfrm>
            <a:off x="4425696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956048" y="2468880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Zampa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956048" y="2734056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Spinner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34256" y="3099816"/>
            <a:ext cx="3493008" cy="566928"/>
          </a:xfrm>
          <a:prstGeom prst="roundRect">
            <a:avLst>
              <a:gd name="adj" fmla="val 11290"/>
            </a:avLst>
          </a:prstGeom>
          <a:solidFill>
            <a:srgbClr val="0F5A40"/>
          </a:solidFill>
          <a:ln/>
        </p:spPr>
      </p:sp>
      <p:sp>
        <p:nvSpPr>
          <p:cNvPr id="45" name="Shape 43"/>
          <p:cNvSpPr/>
          <p:nvPr/>
        </p:nvSpPr>
        <p:spPr>
          <a:xfrm>
            <a:off x="4425696" y="3172968"/>
            <a:ext cx="420624" cy="42062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46" name="Text 44"/>
          <p:cNvSpPr/>
          <p:nvPr/>
        </p:nvSpPr>
        <p:spPr>
          <a:xfrm>
            <a:off x="4425696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956048" y="3127248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Cummins (c)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956048" y="3392424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Bowler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334256" y="3758184"/>
            <a:ext cx="3493008" cy="566928"/>
          </a:xfrm>
          <a:prstGeom prst="roundRect">
            <a:avLst>
              <a:gd name="adj" fmla="val 11290"/>
            </a:avLst>
          </a:prstGeom>
          <a:solidFill>
            <a:srgbClr val="0F5A40"/>
          </a:solidFill>
          <a:ln/>
        </p:spPr>
      </p:sp>
      <p:sp>
        <p:nvSpPr>
          <p:cNvPr id="50" name="Shape 48"/>
          <p:cNvSpPr/>
          <p:nvPr/>
        </p:nvSpPr>
        <p:spPr>
          <a:xfrm>
            <a:off x="4425696" y="3831336"/>
            <a:ext cx="420624" cy="42062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51" name="Text 49"/>
          <p:cNvSpPr/>
          <p:nvPr/>
        </p:nvSpPr>
        <p:spPr>
          <a:xfrm>
            <a:off x="4425696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956048" y="3785616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Mitchell Starc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4956048" y="4050792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Bowler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334256" y="4416552"/>
            <a:ext cx="3493008" cy="566928"/>
          </a:xfrm>
          <a:prstGeom prst="roundRect">
            <a:avLst>
              <a:gd name="adj" fmla="val 11290"/>
            </a:avLst>
          </a:prstGeom>
          <a:solidFill>
            <a:srgbClr val="0F5A40"/>
          </a:solidFill>
          <a:ln/>
        </p:spPr>
      </p:sp>
      <p:sp>
        <p:nvSpPr>
          <p:cNvPr id="55" name="Shape 53"/>
          <p:cNvSpPr/>
          <p:nvPr/>
        </p:nvSpPr>
        <p:spPr>
          <a:xfrm>
            <a:off x="4425696" y="4489704"/>
            <a:ext cx="420624" cy="42062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56" name="Text 54"/>
          <p:cNvSpPr/>
          <p:nvPr/>
        </p:nvSpPr>
        <p:spPr>
          <a:xfrm>
            <a:off x="4425696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956048" y="4443984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Hazlewood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956048" y="4709160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Bowler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028432" y="1783080"/>
            <a:ext cx="3493008" cy="3986784"/>
          </a:xfrm>
          <a:prstGeom prst="roundRect">
            <a:avLst>
              <a:gd name="adj" fmla="val 2094"/>
            </a:avLst>
          </a:prstGeom>
          <a:solidFill>
            <a:srgbClr val="0A4433"/>
          </a:solidFill>
          <a:ln/>
        </p:spPr>
      </p:sp>
      <p:sp>
        <p:nvSpPr>
          <p:cNvPr id="60" name="Shape 58"/>
          <p:cNvSpPr/>
          <p:nvPr/>
        </p:nvSpPr>
        <p:spPr>
          <a:xfrm>
            <a:off x="8257032" y="2011680"/>
            <a:ext cx="640080" cy="640080"/>
          </a:xfrm>
          <a:prstGeom prst="ellipse">
            <a:avLst/>
          </a:prstGeom>
          <a:solidFill>
            <a:srgbClr val="0F5A40"/>
          </a:solidFill>
          <a:ln/>
        </p:spPr>
      </p:sp>
      <p:pic>
        <p:nvPicPr>
          <p:cNvPr id="61" name="Image 0" descr="/home/claude/cricket_deck/icons/cricket_ba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0242" y="2094890"/>
            <a:ext cx="473659" cy="473659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8257032" y="274320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Batting Order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8257032" y="301752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1–7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8257032" y="342900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Bowling Attack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8257032" y="370332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8–11 (spin + pace)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8257032" y="411480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</a:t>
            </a:r>
            <a:endParaRPr lang="en-US" sz="1300" dirty="0"/>
          </a:p>
        </p:txBody>
      </p:sp>
      <p:sp>
        <p:nvSpPr>
          <p:cNvPr id="67" name="Text 64"/>
          <p:cNvSpPr/>
          <p:nvPr/>
        </p:nvSpPr>
        <p:spPr>
          <a:xfrm>
            <a:off x="8257032" y="4389120"/>
            <a:ext cx="30358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D9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 is a specialist pace bowler, not a batting all-rounder — with Cummins, Starc and Hazlewood already the frontline attack, Hardie's batting keeps more depth at No. 6. Ellis remains first in line as pace cover in the Reserves.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9" name="Shape 68"/>
          <p:cNvSpPr/>
          <p:nvPr/>
        </p:nvSpPr>
        <p:spPr>
          <a:xfrm>
            <a:off x="640080" y="5074920"/>
            <a:ext cx="7187184" cy="900000"/>
          </a:xfrm>
          <a:prstGeom prst="roundRect">
            <a:avLst>
              <a:gd name="adj" fmla="val 7000"/>
            </a:avLst>
          </a:prstGeom>
          <a:solidFill>
            <a:srgbClr val="0A4433"/>
          </a:solidFill>
          <a:ln w="12700">
            <a:solidFill>
              <a:srgbClr val="1C7A57"/>
            </a:solidFill>
            <a:prstDash val="solid"/>
          </a:ln>
        </p:spPr>
      </p:sp>
      <p:sp>
        <p:nvSpPr>
          <p:cNvPr id="70" name="Text 69"/>
          <p:cNvSpPr/>
          <p:nvPr/>
        </p:nvSpPr>
        <p:spPr>
          <a:xfrm>
            <a:off x="868680" y="5074920"/>
            <a:ext cx="13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25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</a:t>
            </a:r>
          </a:p>
        </p:txBody>
      </p:sp>
      <p:sp>
        <p:nvSpPr>
          <p:cNvPr id="71" name="Text 70"/>
          <p:cNvSpPr/>
          <p:nvPr/>
        </p:nvSpPr>
        <p:spPr>
          <a:xfrm>
            <a:off x="2318680" y="5234920"/>
            <a:ext cx="1669528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David</a:t>
            </a:r>
          </a:p>
        </p:txBody>
      </p:sp>
      <p:sp>
        <p:nvSpPr>
          <p:cNvPr id="72" name="Text 71"/>
          <p:cNvSpPr/>
          <p:nvPr/>
        </p:nvSpPr>
        <p:spPr>
          <a:xfrm>
            <a:off x="2318680" y="5574920"/>
            <a:ext cx="1669528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950" i="1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Finisher</a:t>
            </a:r>
          </a:p>
        </p:txBody>
      </p:sp>
      <p:sp>
        <p:nvSpPr>
          <p:cNvPr id="73" name="Text 72"/>
          <p:cNvSpPr/>
          <p:nvPr/>
        </p:nvSpPr>
        <p:spPr>
          <a:xfrm>
            <a:off x="4088208" y="5234920"/>
            <a:ext cx="1669528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Mitchell Owen</a:t>
            </a:r>
          </a:p>
        </p:txBody>
      </p:sp>
      <p:sp>
        <p:nvSpPr>
          <p:cNvPr id="74" name="Text 73"/>
          <p:cNvSpPr/>
          <p:nvPr/>
        </p:nvSpPr>
        <p:spPr>
          <a:xfrm>
            <a:off x="4088208" y="5574920"/>
            <a:ext cx="1669528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950" i="1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Power-Hitting All-Rounder</a:t>
            </a:r>
          </a:p>
        </p:txBody>
      </p:sp>
      <p:sp>
        <p:nvSpPr>
          <p:cNvPr id="75" name="Text 74"/>
          <p:cNvSpPr/>
          <p:nvPr/>
        </p:nvSpPr>
        <p:spPr>
          <a:xfrm>
            <a:off x="5857736" y="5234920"/>
            <a:ext cx="1669528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 Ellis</a:t>
            </a:r>
          </a:p>
        </p:txBody>
      </p:sp>
      <p:sp>
        <p:nvSpPr>
          <p:cNvPr id="76" name="Text 75"/>
          <p:cNvSpPr/>
          <p:nvPr/>
        </p:nvSpPr>
        <p:spPr>
          <a:xfrm>
            <a:off x="5857736" y="5574920"/>
            <a:ext cx="1669528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en-US" sz="950" i="1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Death-Overs Pace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 Depth &amp; Succession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AF4E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66928" cy="566928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6" name="Image 0" descr="/home/claude/cricket_deck/icons/cricket_b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81" y="203966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Batting Pool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Philippe · Jake Fraser-McGurk · Nathan McSweeney · Ollie Davies · Jake Weatherald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AF4EF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1965960"/>
            <a:ext cx="566928" cy="566928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1" name="Image 1" descr="/home/claude/cricket_deck/icons/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501" y="203966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Fast-Bowling Pool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0800" y="26060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 Ellis · Lance Morris · Fergus O'Neill · Xavier Bartlett · Spencer Johnson · Brendan Doggett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008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PIPELINE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2976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0B6E4F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" y="42976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XI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154680" y="429768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291840" y="42976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0F5A40"/>
          </a:solidFill>
          <a:ln/>
        </p:spPr>
      </p:sp>
      <p:sp>
        <p:nvSpPr>
          <p:cNvPr id="19" name="Text 15"/>
          <p:cNvSpPr/>
          <p:nvPr/>
        </p:nvSpPr>
        <p:spPr>
          <a:xfrm>
            <a:off x="3291840" y="42976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Backups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806440" y="429768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943600" y="42976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0F5A40"/>
          </a:solidFill>
          <a:ln/>
        </p:spPr>
      </p:sp>
      <p:sp>
        <p:nvSpPr>
          <p:cNvPr id="22" name="Text 18"/>
          <p:cNvSpPr/>
          <p:nvPr/>
        </p:nvSpPr>
        <p:spPr>
          <a:xfrm>
            <a:off x="5943600" y="42976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Candidates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8458200" y="429768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595360" y="42976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0F5A40"/>
          </a:solidFill>
          <a:ln/>
        </p:spPr>
      </p:sp>
      <p:sp>
        <p:nvSpPr>
          <p:cNvPr id="25" name="Text 21"/>
          <p:cNvSpPr/>
          <p:nvPr/>
        </p:nvSpPr>
        <p:spPr>
          <a:xfrm>
            <a:off x="8595360" y="42976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73B29"/>
          </a:solidFill>
          <a:ln/>
        </p:spPr>
      </p:sp>
      <p:pic>
        <p:nvPicPr>
          <p:cNvPr id="27" name="Image 2" descr="/home/claude/cricket_deck/icons/warning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559552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53492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the pool each new domestic season. Do not select solely from BSI/BoSI — role balance, fitness and availability remain essential.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Decision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supports a scouting decision — without replacing selector judgement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0B6E4F"/>
          </a:solidFill>
          <a:ln/>
        </p:spPr>
      </p:sp>
      <p:sp>
        <p:nvSpPr>
          <p:cNvPr id="6" name="Shape 4"/>
          <p:cNvSpPr/>
          <p:nvPr/>
        </p:nvSpPr>
        <p:spPr>
          <a:xfrm>
            <a:off x="1581912" y="2103120"/>
            <a:ext cx="694944" cy="694944"/>
          </a:xfrm>
          <a:prstGeom prst="ellipse">
            <a:avLst/>
          </a:prstGeom>
          <a:solidFill>
            <a:srgbClr val="0F5A40"/>
          </a:solidFill>
          <a:ln/>
        </p:spPr>
      </p:sp>
      <p:pic>
        <p:nvPicPr>
          <p:cNvPr id="7" name="Image 0" descr="/home/claude/cricket_deck/icons/chart_lin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2255" y="2193463"/>
            <a:ext cx="514259" cy="5142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88036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Performance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/ BoSI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Recent-form indicators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18688" y="1920240"/>
            <a:ext cx="182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01568" y="192024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0B6E4F"/>
          </a:solidFill>
          <a:ln/>
        </p:spPr>
      </p:sp>
      <p:sp>
        <p:nvSpPr>
          <p:cNvPr id="12" name="Shape 9"/>
          <p:cNvSpPr/>
          <p:nvPr/>
        </p:nvSpPr>
        <p:spPr>
          <a:xfrm>
            <a:off x="4343400" y="2103120"/>
            <a:ext cx="694944" cy="694944"/>
          </a:xfrm>
          <a:prstGeom prst="ellipse">
            <a:avLst/>
          </a:prstGeom>
          <a:solidFill>
            <a:srgbClr val="0F5A40"/>
          </a:solidFill>
          <a:ln/>
        </p:spPr>
      </p:sp>
      <p:pic>
        <p:nvPicPr>
          <p:cNvPr id="13" name="Image 1" descr="/home/claude/cricket_deck/icons/user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743" y="2193463"/>
            <a:ext cx="514259" cy="5142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93008" y="288036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Role Fit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38728" y="320040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role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role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balance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980176" y="1920240"/>
            <a:ext cx="182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163056" y="192024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0B6E4F"/>
          </a:solidFill>
          <a:ln/>
        </p:spPr>
      </p:sp>
      <p:sp>
        <p:nvSpPr>
          <p:cNvPr id="18" name="Shape 14"/>
          <p:cNvSpPr/>
          <p:nvPr/>
        </p:nvSpPr>
        <p:spPr>
          <a:xfrm>
            <a:off x="7104888" y="2103120"/>
            <a:ext cx="694944" cy="694944"/>
          </a:xfrm>
          <a:prstGeom prst="ellipse">
            <a:avLst/>
          </a:prstGeom>
          <a:solidFill>
            <a:srgbClr val="0F5A40"/>
          </a:solidFill>
          <a:ln/>
        </p:spPr>
      </p:sp>
      <p:pic>
        <p:nvPicPr>
          <p:cNvPr id="19" name="Image 2" descr="/home/claude/cricket_deck/icons/shield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231" y="2193463"/>
            <a:ext cx="514259" cy="51425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288036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Availability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0216" y="320040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availability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741664" y="1920240"/>
            <a:ext cx="182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8924544" y="192024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0B6E4F"/>
          </a:solidFill>
          <a:ln/>
        </p:spPr>
      </p:sp>
      <p:sp>
        <p:nvSpPr>
          <p:cNvPr id="24" name="Shape 19"/>
          <p:cNvSpPr/>
          <p:nvPr/>
        </p:nvSpPr>
        <p:spPr>
          <a:xfrm>
            <a:off x="9866376" y="2103120"/>
            <a:ext cx="694944" cy="694944"/>
          </a:xfrm>
          <a:prstGeom prst="ellipse">
            <a:avLst/>
          </a:prstGeom>
          <a:solidFill>
            <a:srgbClr val="0F5A40"/>
          </a:solidFill>
          <a:ln/>
        </p:spPr>
      </p:sp>
      <p:pic>
        <p:nvPicPr>
          <p:cNvPr id="25" name="Image 3" descr="/home/claude/cricket_deck/icons/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6719" y="2193463"/>
            <a:ext cx="514259" cy="51425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15984" y="288036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Decision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061704" y="320040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for consideration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40080" y="416052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EAF4EF"/>
          </a:solidFill>
          <a:ln/>
        </p:spPr>
      </p:sp>
      <p:sp>
        <p:nvSpPr>
          <p:cNvPr id="29" name="Text 23"/>
          <p:cNvSpPr/>
          <p:nvPr/>
        </p:nvSpPr>
        <p:spPr>
          <a:xfrm>
            <a:off x="86868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68680" y="4590288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index + strong role fit + available  →  high-priority monitoring / selection consideration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index + role mismatch  →  retain in wider talent pool and reassess role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index + strong recent form  →  monitor for trajectory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recommendation remains subject to fitness, availability and selector judgement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3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Scouting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F5A40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47672"/>
            <a:ext cx="548640" cy="548640"/>
          </a:xfrm>
          <a:prstGeom prst="ellipse">
            <a:avLst/>
          </a:prstGeom>
          <a:solidFill>
            <a:srgbClr val="0A4433"/>
          </a:solidFill>
          <a:ln/>
        </p:spPr>
      </p:sp>
      <p:pic>
        <p:nvPicPr>
          <p:cNvPr id="6" name="Image 0" descr="/home/claude/cricket_deck/icons/targe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571" y="2018995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high-performing domestic talent using BSI and BoSI as evidence.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F5A40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" y="2862072"/>
            <a:ext cx="548640" cy="548640"/>
          </a:xfrm>
          <a:prstGeom prst="ellipse">
            <a:avLst/>
          </a:prstGeom>
          <a:solidFill>
            <a:srgbClr val="0A4433"/>
          </a:solidFill>
          <a:ln/>
        </p:spPr>
      </p:sp>
      <p:pic>
        <p:nvPicPr>
          <p:cNvPr id="10" name="Image 1" descr="/home/claude/cricket_deck/icons/user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71" y="2933395"/>
            <a:ext cx="405994" cy="405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7432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multiple options for every major ODI role.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6576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F5A40"/>
          </a:solidFill>
          <a:ln/>
        </p:spPr>
      </p:sp>
      <p:sp>
        <p:nvSpPr>
          <p:cNvPr id="13" name="Shape 9"/>
          <p:cNvSpPr/>
          <p:nvPr/>
        </p:nvSpPr>
        <p:spPr>
          <a:xfrm>
            <a:off x="841248" y="3776472"/>
            <a:ext cx="548640" cy="548640"/>
          </a:xfrm>
          <a:prstGeom prst="ellipse">
            <a:avLst/>
          </a:prstGeom>
          <a:solidFill>
            <a:srgbClr val="0A4433"/>
          </a:solidFill>
          <a:ln/>
        </p:spPr>
      </p:sp>
      <p:pic>
        <p:nvPicPr>
          <p:cNvPr id="14" name="Image 2" descr="/home/claude/cricket_deck/icons/fir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" y="3847795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6576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domestic fast-bowling depth as part of longer-term succession planning.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45720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F5A40"/>
          </a:solidFill>
          <a:ln/>
        </p:spPr>
      </p:sp>
      <p:sp>
        <p:nvSpPr>
          <p:cNvPr id="17" name="Shape 12"/>
          <p:cNvSpPr/>
          <p:nvPr/>
        </p:nvSpPr>
        <p:spPr>
          <a:xfrm>
            <a:off x="841248" y="4690872"/>
            <a:ext cx="548640" cy="548640"/>
          </a:xfrm>
          <a:prstGeom prst="ellipse">
            <a:avLst/>
          </a:prstGeom>
          <a:solidFill>
            <a:srgbClr val="0A4433"/>
          </a:solidFill>
          <a:ln/>
        </p:spPr>
      </p:sp>
      <p:pic>
        <p:nvPicPr>
          <p:cNvPr id="18" name="Image 3" descr="/home/claude/cricket_deck/icons/rotat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71" y="4762195"/>
            <a:ext cx="405994" cy="4059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5720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the model regularly as new data becomes available.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F5A40"/>
          </a:solidFill>
          <a:ln/>
        </p:spPr>
      </p:sp>
      <p:sp>
        <p:nvSpPr>
          <p:cNvPr id="21" name="Shape 15"/>
          <p:cNvSpPr/>
          <p:nvPr/>
        </p:nvSpPr>
        <p:spPr>
          <a:xfrm>
            <a:off x="841248" y="5605272"/>
            <a:ext cx="548640" cy="548640"/>
          </a:xfrm>
          <a:prstGeom prst="ellipse">
            <a:avLst/>
          </a:prstGeom>
          <a:solidFill>
            <a:srgbClr val="0A4433"/>
          </a:solidFill>
          <a:ln/>
        </p:spPr>
      </p:sp>
      <p:pic>
        <p:nvPicPr>
          <p:cNvPr id="22" name="Image 4" descr="/home/claude/cricket_deck/icons/scal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" y="5676595"/>
            <a:ext cx="405994" cy="40599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54864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performance analytics with role fit, recent form, fitness, availability and team balance.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Improvements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pic>
        <p:nvPicPr>
          <p:cNvPr id="5" name="Image 0" descr="/home/claude/cricket_deck/icons/warning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2140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103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is based on domestic One-Day Cup data, not international ODI data.</a:t>
            </a:r>
            <a:endParaRPr lang="en-US" sz="1200" dirty="0"/>
          </a:p>
        </p:txBody>
      </p:sp>
      <p:pic>
        <p:nvPicPr>
          <p:cNvPr id="7" name="Image 1" descr="/home/claude/cricket_deck/icons/warning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6265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9443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dataset ends in 2025/26; 2027 performance is not directly observable.</a:t>
            </a:r>
            <a:endParaRPr lang="en-US" sz="1200" dirty="0"/>
          </a:p>
        </p:txBody>
      </p:sp>
      <p:pic>
        <p:nvPicPr>
          <p:cNvPr id="9" name="Image 2" descr="/home/claude/cricket_deck/icons/warning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0390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378561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and BoSI weights are project-defined.</a:t>
            </a:r>
            <a:endParaRPr lang="en-US" sz="1200" dirty="0"/>
          </a:p>
        </p:txBody>
      </p:sp>
      <p:pic>
        <p:nvPicPr>
          <p:cNvPr id="11" name="Image 3" descr="/home/claude/cricket_deck/icons/warning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45152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462686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does not independently capture every selection factor.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6172200" y="173736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0B6E4F"/>
          </a:solidFill>
          <a:ln/>
        </p:spPr>
      </p:sp>
      <p:sp>
        <p:nvSpPr>
          <p:cNvPr id="14" name="Shape 8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0F5A40"/>
          </a:solidFill>
          <a:ln/>
        </p:spPr>
      </p:sp>
      <p:pic>
        <p:nvPicPr>
          <p:cNvPr id="15" name="Image 4" descr="/home/claude/cricket_deck/icons/lightbulb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010" y="2049170"/>
            <a:ext cx="473659" cy="47365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7804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6400800" y="27432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performance data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Opposition strength and venue conditions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/ availability tracking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career trajectory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E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400800" y="4617720"/>
            <a:ext cx="4892040" cy="685800"/>
          </a:xfrm>
          <a:prstGeom prst="roundRect">
            <a:avLst>
              <a:gd name="adj" fmla="val 8000"/>
            </a:avLst>
          </a:prstGeom>
          <a:solidFill>
            <a:srgbClr val="0A4433"/>
          </a:solidFill>
          <a:ln/>
        </p:spPr>
      </p:sp>
      <p:sp>
        <p:nvSpPr>
          <p:cNvPr id="19" name="Text 12"/>
          <p:cNvSpPr/>
          <p:nvPr/>
        </p:nvSpPr>
        <p:spPr>
          <a:xfrm>
            <a:off x="6583680" y="46177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supports scouting decisions; it does not replace expert selectors.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Tools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supporting the scouting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9300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20824" y="2093976"/>
            <a:ext cx="731520" cy="7315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7" name="Image 0" descr="/home/claude/cricket_deck/icons/pyth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5922" y="2189074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898648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22783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aggregation and metric calculation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34256" y="1874520"/>
            <a:ext cx="349300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5000" y="2093976"/>
            <a:ext cx="731520" cy="7315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2" name="Image 1" descr="/home/claude/cricket_deck/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098" y="2189074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71416" y="2898648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17136" y="322783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analysis and documentation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28432" y="1874520"/>
            <a:ext cx="349300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09176" y="2093976"/>
            <a:ext cx="731520" cy="7315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17" name="Image 2" descr="/home/claude/cricket_deck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274" y="2189074"/>
            <a:ext cx="541325" cy="5413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65592" y="2898648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11312" y="322783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Delivery-level data manipulation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3886200"/>
            <a:ext cx="349300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020824" y="4105656"/>
            <a:ext cx="731520" cy="7315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22" name="Image 3" descr="/home/claude/cricket_deck/icons/exce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922" y="4200754"/>
            <a:ext cx="541325" cy="5413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910328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Dashboard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22960" y="523951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Ranking, reporting and decision presentation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34256" y="3886200"/>
            <a:ext cx="349300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715000" y="4105656"/>
            <a:ext cx="731520" cy="7315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27" name="Image 4" descr="/home/claude/cricket_deck/icons/targ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098" y="4200754"/>
            <a:ext cx="541325" cy="5413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71416" y="4910328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BSI / BoSI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17136" y="523951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scouting indices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028432" y="3886200"/>
            <a:ext cx="349300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EDE4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9409176" y="4105656"/>
            <a:ext cx="731520" cy="731520"/>
          </a:xfrm>
          <a:prstGeom prst="ellipse">
            <a:avLst/>
          </a:prstGeom>
          <a:solidFill>
            <a:srgbClr val="0B6E4F"/>
          </a:solidFill>
          <a:ln/>
        </p:spPr>
      </p:sp>
      <p:pic>
        <p:nvPicPr>
          <p:cNvPr id="32" name="Image 5" descr="/home/claude/cricket_deck/icons/chart_col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4274" y="4200754"/>
            <a:ext cx="541325" cy="54132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165592" y="4910328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Analytics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211312" y="523951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comparison and trend communication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3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062A1F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0"/>
            <a:ext cx="1188720" cy="1691640"/>
          </a:xfrm>
          <a:prstGeom prst="rect">
            <a:avLst/>
          </a:prstGeom>
          <a:solidFill>
            <a:srgbClr val="0A443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0"/>
            <a:ext cx="1188720" cy="1691640"/>
          </a:xfrm>
          <a:prstGeom prst="rect">
            <a:avLst/>
          </a:prstGeom>
          <a:solidFill>
            <a:srgbClr val="0A443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40480" y="0"/>
            <a:ext cx="1188720" cy="1691640"/>
          </a:xfrm>
          <a:prstGeom prst="rect">
            <a:avLst/>
          </a:prstGeom>
          <a:solidFill>
            <a:srgbClr val="0A4433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0"/>
            <a:ext cx="1188720" cy="1691640"/>
          </a:xfrm>
          <a:prstGeom prst="rect">
            <a:avLst/>
          </a:prstGeom>
          <a:solidFill>
            <a:srgbClr val="0A4433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595360" y="0"/>
            <a:ext cx="1188720" cy="1691640"/>
          </a:xfrm>
          <a:prstGeom prst="rect">
            <a:avLst/>
          </a:prstGeom>
          <a:solidFill>
            <a:srgbClr val="0A4433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0"/>
            <a:ext cx="1188720" cy="1691640"/>
          </a:xfrm>
          <a:prstGeom prst="rect">
            <a:avLst/>
          </a:prstGeom>
          <a:solidFill>
            <a:srgbClr val="0A4433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411480"/>
            <a:ext cx="868680" cy="868680"/>
          </a:xfrm>
          <a:prstGeom prst="ellipse">
            <a:avLst/>
          </a:prstGeom>
          <a:solidFill>
            <a:srgbClr val="0F5A40"/>
          </a:solidFill>
          <a:ln/>
        </p:spPr>
      </p:sp>
      <p:pic>
        <p:nvPicPr>
          <p:cNvPr id="10" name="Image 0" descr="/home/claude/cricket_deck/icons/laurel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008" y="524408"/>
            <a:ext cx="642823" cy="64282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pic>
        <p:nvPicPr>
          <p:cNvPr id="12" name="Image 1" descr="/home/claude/cricket_deck/icons/che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762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21488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converts delivery-level cricket data into a practical talent-scouting framework.</a:t>
            </a:r>
            <a:endParaRPr lang="en-US" sz="1450" dirty="0"/>
          </a:p>
        </p:txBody>
      </p:sp>
      <p:pic>
        <p:nvPicPr>
          <p:cNvPr id="14" name="Image 2" descr="/home/claude/cricket_deck/icons/chec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5351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926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historical performance, efficiency, recent form, role suitability and additional contribution.</a:t>
            </a:r>
            <a:endParaRPr lang="en-US" sz="1450" dirty="0"/>
          </a:p>
        </p:txBody>
      </p:sp>
      <p:pic>
        <p:nvPicPr>
          <p:cNvPr id="16" name="Image 3" descr="/home/claude/cricket_deck/icons/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3075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7033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and BoSI provide transparent comparative rankings within the selected groups.</a:t>
            </a:r>
            <a:endParaRPr lang="en-US" sz="1450" dirty="0"/>
          </a:p>
        </p:txBody>
      </p:sp>
      <p:pic>
        <p:nvPicPr>
          <p:cNvPr id="18" name="Image 4" descr="/home/claude/cricket_deck/icons/chec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50799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4480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Python/Jupyter workflow and Excel dashboard make the process reproducible.</a:t>
            </a:r>
            <a:endParaRPr lang="en-US" sz="1450" dirty="0"/>
          </a:p>
        </p:txBody>
      </p:sp>
      <p:pic>
        <p:nvPicPr>
          <p:cNvPr id="20" name="Image 5" descr="/home/claude/cricket_deck/icons/chec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285232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43000" y="52578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can be refreshed with future domestic seasons to support ODI talent and succession planning.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C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 ·  Australian ODI Talent Scouting &amp; 2027 World Cup Planning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Python Code — Load &amp; Validate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411480"/>
            <a:ext cx="914400" cy="3200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CODE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Consolas"/>
              </a:defRPr>
            </a:pPr>
            <a:r>
              <a:t>import pandas as pd</a:t>
            </a:r>
            <a:br/>
            <a:r>
              <a:t>import numpy as np</a:t>
            </a:r>
            <a:br/>
            <a:br/>
            <a:r>
              <a:t>df = pd.read_csv("Original_Dataset.csv")</a:t>
            </a:r>
            <a:br/>
            <a:r>
              <a:t>print(df.shape)</a:t>
            </a:r>
            <a:br/>
            <a:r>
              <a:t>print(df.columns.tolist())</a:t>
            </a:r>
            <a:br/>
            <a:r>
              <a:t>print(df.isna().sum())</a:t>
            </a:r>
            <a:br/>
            <a:br/>
            <a:r>
              <a:t># Legality / credit flags used by every later step</a:t>
            </a:r>
            <a:br/>
            <a:r>
              <a:t>df["is_legal"] = ~((df["wides"] &gt; 0) | (df["noballs"] &gt; 0))</a:t>
            </a:r>
            <a:br/>
            <a:r>
              <a:t>df["ball_faced"] = df["wides"] == 0</a:t>
            </a:r>
            <a:br/>
            <a:r>
              <a:t>df["bowler_runs"] = (df["runs_off_bat"]</a:t>
            </a:r>
            <a:br/>
            <a:r>
              <a:t>    + df["wides"] + df["noballs"])</a:t>
            </a:r>
            <a:br/>
            <a:r>
              <a:t>df["bowler_wicket"] = (df["wicket_type"].notna()</a:t>
            </a:r>
            <a:br/>
            <a:r>
              <a:t>    &amp; (df["wicket_type"] != "run out"))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Grow Sports | Python / Jupyter Implementation Appendix |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Python Code — Batting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411480"/>
            <a:ext cx="914400" cy="3200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Consolas"/>
              </a:defRPr>
            </a:pPr>
            <a:r>
              <a:t>batting = (</a:t>
            </a:r>
            <a:br/>
            <a:r>
              <a:t>    df.groupby("striker")</a:t>
            </a:r>
            <a:br/>
            <a:r>
              <a:t>      .agg(</a:t>
            </a:r>
            <a:br/>
            <a:r>
              <a:t>          runs=("runs_off_bat", "sum"),</a:t>
            </a:r>
            <a:br/>
            <a:r>
              <a:t>          balls=("ball_faced", "sum"),</a:t>
            </a:r>
            <a:br/>
            <a:r>
              <a:t>          dismissals=("bowler_wicket", "sum")</a:t>
            </a:r>
            <a:br/>
            <a:r>
              <a:t>      )</a:t>
            </a:r>
            <a:br/>
            <a:r>
              <a:t>      .reset_index()</a:t>
            </a:r>
            <a:br/>
            <a:r>
              <a:t>)</a:t>
            </a:r>
            <a:br/>
            <a:br/>
            <a:r>
              <a:t>batting["strike_rate"] = (</a:t>
            </a:r>
            <a:br/>
            <a:r>
              <a:t>    batting["runs"] / batting["balls"] * 100</a:t>
            </a:r>
            <a:br/>
            <a:r>
              <a:t>)</a:t>
            </a:r>
            <a:br/>
            <a:br/>
            <a:r>
              <a:t># Avoid divide-by-zero for not-out players</a:t>
            </a:r>
            <a:br/>
            <a:r>
              <a:t>batting["batting_avg"] = np.where(</a:t>
            </a:r>
            <a:br/>
            <a:r>
              <a:t>    batting["dismissals"] &gt; 0,</a:t>
            </a:r>
            <a:br/>
            <a:r>
              <a:t>    batting["runs"] / batting["dismissals"],</a:t>
            </a:r>
            <a:br/>
            <a:r>
              <a:t>    batting["runs"]</a:t>
            </a:r>
            <a:br/>
            <a: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Grow Sports | Python / Jupyter Implementation Appendix |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Python Code — Bowling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411480"/>
            <a:ext cx="914400" cy="3200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Consolas"/>
              </a:defRPr>
            </a:pPr>
            <a:r>
              <a:t>bowling = (</a:t>
            </a:r>
            <a:br/>
            <a:r>
              <a:t>    df.groupby("bowler")</a:t>
            </a:r>
            <a:br/>
            <a:r>
              <a:t>      .agg(</a:t>
            </a:r>
            <a:br/>
            <a:r>
              <a:t>          runs_conceded=("bowler_runs", "sum"),</a:t>
            </a:r>
            <a:br/>
            <a:r>
              <a:t>          legal_balls=("is_legal", "sum"),</a:t>
            </a:r>
            <a:br/>
            <a:r>
              <a:t>          wickets=("bowler_wicket", "sum")</a:t>
            </a:r>
            <a:br/>
            <a:r>
              <a:t>      )</a:t>
            </a:r>
            <a:br/>
            <a:r>
              <a:t>      .reset_index()</a:t>
            </a:r>
            <a:br/>
            <a:r>
              <a:t>)</a:t>
            </a:r>
            <a:br/>
            <a:br/>
            <a:r>
              <a:t>bowling["overs"] = bowling["legal_balls"] / 6</a:t>
            </a:r>
            <a:br/>
            <a:r>
              <a:t>bowling["economy"] = (</a:t>
            </a:r>
            <a:br/>
            <a:r>
              <a:t>    bowling["runs_conceded"] / bowling["overs"]</a:t>
            </a:r>
            <a:br/>
            <a:r>
              <a:t>)</a:t>
            </a:r>
            <a:br/>
            <a:br/>
            <a:r>
              <a:t># np.where guards against wickets == 0</a:t>
            </a:r>
            <a:br/>
            <a:r>
              <a:t>bowling["bowling_avg"] = np.where(</a:t>
            </a:r>
            <a:br/>
            <a:r>
              <a:t>    bowling["wickets"] &gt; 0,</a:t>
            </a:r>
            <a:br/>
            <a:r>
              <a:t>    bowling["runs_conceded"] / bowling["wickets"], np.nan)</a:t>
            </a:r>
            <a:br/>
            <a:r>
              <a:t>bowling["bowling_strike_rate"] = np.where(</a:t>
            </a:r>
            <a:br/>
            <a:r>
              <a:t>    bowling["wickets"] &gt; 0,</a:t>
            </a:r>
            <a:br/>
            <a:r>
              <a:t>    bowling["legal_balls"] / bowling["wickets"], np.nan)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Grow Sports | Python / Jupyter Implementation Appendix |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Python Code — Recent 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411480"/>
            <a:ext cx="914400" cy="3200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Consolas"/>
              </a:defRPr>
            </a:pPr>
            <a:r>
              <a:t># Aggregate to one row per player per match,</a:t>
            </a:r>
            <a:br/>
            <a:r>
              <a:t># then take each player's last 5 MATCHES</a:t>
            </a:r>
            <a:br/>
            <a:r>
              <a:t>bat_by_match = df.groupby(</a:t>
            </a:r>
            <a:br/>
            <a:r>
              <a:t>    ["striker", "match_id"])["runs_off_bat"].sum()</a:t>
            </a:r>
            <a:br/>
            <a:br/>
            <a:r>
              <a:t>recent_batting = (</a:t>
            </a:r>
            <a:br/>
            <a:r>
              <a:t>    bat_by_match.reset_index()</a:t>
            </a:r>
            <a:br/>
            <a:r>
              <a:t>        .sort_values("match_id")</a:t>
            </a:r>
            <a:br/>
            <a:r>
              <a:t>        .groupby("striker").tail(5)</a:t>
            </a:r>
            <a:br/>
            <a:r>
              <a:t>        .groupby("striker")["runs_off_bat"].sum()</a:t>
            </a:r>
            <a:br/>
            <a:r>
              <a:t>        .rename("recent_runs").reset_index()</a:t>
            </a:r>
            <a:br/>
            <a:r>
              <a:t>)</a:t>
            </a:r>
            <a:br/>
            <a:br/>
            <a:r>
              <a:t>bowl_by_match = df.groupby(</a:t>
            </a:r>
            <a:br/>
            <a:r>
              <a:t>    ["bowler", "match_id"])["bowler_wicket"].sum()</a:t>
            </a:r>
            <a:br/>
            <a:br/>
            <a:r>
              <a:t>recent_bowling = (</a:t>
            </a:r>
            <a:br/>
            <a:r>
              <a:t>    bowl_by_match.reset_index()</a:t>
            </a:r>
            <a:br/>
            <a:r>
              <a:t>        .sort_values("match_id")</a:t>
            </a:r>
            <a:br/>
            <a:r>
              <a:t>        .groupby("bowler").tail(5)</a:t>
            </a:r>
            <a:br/>
            <a:r>
              <a:t>        .groupby("bowler")["bowler_wicket"].sum()</a:t>
            </a:r>
            <a:br/>
            <a:r>
              <a:t>        .rename("recent_wickets").reset_index()</a:t>
            </a:r>
            <a:br/>
            <a: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Grow Sports | Python / Jupyter Implementation Appendix |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Python Code — BSI / BoSI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411480"/>
            <a:ext cx="914400" cy="3200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Consolas"/>
              </a:defRPr>
            </a:pPr>
            <a:r>
              <a:t>def minmax(series):</a:t>
            </a:r>
            <a:br/>
            <a:r>
              <a:t>    rng = series.max() - series.min()</a:t>
            </a:r>
            <a:br/>
            <a:r>
              <a:t>    return (series - series.min()) / rng</a:t>
            </a:r>
            <a:br/>
            <a:br/>
            <a:r>
              <a:t># Batting: higher is always better</a:t>
            </a:r>
            <a:br/>
            <a:r>
              <a:t>avg_score = minmax(batting["batting_avg"])</a:t>
            </a:r>
            <a:br/>
            <a:r>
              <a:t>sr_score = minmax(batting["strike_rate"])</a:t>
            </a:r>
            <a:br/>
            <a:r>
              <a:t>form_score = minmax(batting["recent_runs"])</a:t>
            </a:r>
            <a:br/>
            <a:br/>
            <a:r>
              <a:t>batting["BSI"] = 100 * (</a:t>
            </a:r>
            <a:br/>
            <a:r>
              <a:t>    0.30 * avg_score + 0.25 * sr_score +</a:t>
            </a:r>
            <a:br/>
            <a:r>
              <a:t>    0.20 * form_score + 0.15 * role_score +</a:t>
            </a:r>
            <a:br/>
            <a:r>
              <a:t>    0.10 * fielding_score)</a:t>
            </a:r>
            <a:br/>
            <a:br/>
            <a:r>
              <a:t># Bowling: avg/economy/SR are lower-is-better,</a:t>
            </a:r>
            <a:br/>
            <a:r>
              <a:t># so the scaled score is reversed (1 - minmax)</a:t>
            </a:r>
            <a:br/>
            <a:r>
              <a:t>bowling["BoSI"] = 100 * (</a:t>
            </a:r>
            <a:br/>
            <a:r>
              <a:t>    0.30 * (1 - minmax(bowling["bowling_avg"])) +</a:t>
            </a:r>
            <a:br/>
            <a:r>
              <a:t>    0.25 * (1 - minmax(bowling["economy"])) +</a:t>
            </a:r>
            <a:br/>
            <a:r>
              <a:t>    0.20 * (1 - minmax(bowling["bowling_strike_rate"])) +</a:t>
            </a:r>
            <a:br/>
            <a:r>
              <a:t>    0.15 * minmax(bowling['recent_wickets']) +</a:t>
            </a:r>
            <a:br/>
            <a:r>
              <a:t>    0.10 * bowl_role_score)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Grow Sports | Python / Jupyter Implementation Appendix |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Python Code — Rankings &amp; Excel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61320" y="411480"/>
            <a:ext cx="914400" cy="3200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480060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Consolas"/>
              </a:defRPr>
            </a:pPr>
            <a:r>
              <a:t>bsi_ranked = batting.sort_values(</a:t>
            </a:r>
            <a:br/>
            <a:r>
              <a:t>    "BSI", ascending=False</a:t>
            </a:r>
            <a:br/>
            <a:r>
              <a:t>)</a:t>
            </a:r>
            <a:br/>
            <a:br/>
            <a:r>
              <a:t>bosi_ranked = bowling.sort_values(</a:t>
            </a:r>
            <a:br/>
            <a:r>
              <a:t>    "BoSI", ascending=False</a:t>
            </a:r>
            <a:br/>
            <a:r>
              <a:t>)</a:t>
            </a:r>
            <a:br/>
            <a:br/>
            <a:r>
              <a:t>with pd.ExcelWriter(</a:t>
            </a:r>
            <a:br/>
            <a:r>
              <a:t>    "Grow_Sports_Analytics.xlsx", engine="openpyxl"</a:t>
            </a:r>
            <a:br/>
            <a:r>
              <a:t>) as writer:</a:t>
            </a:r>
            <a:br/>
            <a:r>
              <a:t>    bsi_ranked.to_excel(</a:t>
            </a:r>
            <a:br/>
            <a:r>
              <a:t>        writer, sheet_name="BSI Rankings", index=False</a:t>
            </a:r>
            <a:br/>
            <a:r>
              <a:t>    )</a:t>
            </a:r>
            <a:br/>
            <a:r>
              <a:t>    bosi_ranked.to_excel(</a:t>
            </a:r>
            <a:br/>
            <a:r>
              <a:t>        writer, sheet_name="BoSI Rankings", index=False</a:t>
            </a:r>
            <a:br/>
            <a:r>
              <a:t>   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Grow Sports | Python / Jupyter Implementation Appendix |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fil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8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  ·  BATTING POOL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90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Josh Philippe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41120"/>
            <a:ext cx="10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29   |   Right-handed   |   Wicketkeeper (no bowling)   |   New South Wales / Sydney Sixers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1783080"/>
            <a:ext cx="5450000" cy="2130000"/>
          </a:xfrm>
          <a:prstGeom prst="roundRect">
            <a:avLst>
              <a:gd name="adj" fmla="val 7000"/>
            </a:avLst>
          </a:prstGeom>
          <a:solidFill>
            <a:srgbClr val="073B29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1983080"/>
            <a:ext cx="49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  ·  FROM THE PROJECT ANALYSIS</a:t>
            </a:r>
          </a:p>
        </p:txBody>
      </p:sp>
      <p:sp>
        <p:nvSpPr>
          <p:cNvPr id="0" name="T"/>
          <p:cNvSpPr/>
          <p:nvPr/>
        </p:nvSpPr>
        <p:spPr>
          <a:xfrm>
            <a:off x="914400" y="2403080"/>
            <a:ext cx="49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50" dirty="0">
                <a:solidFill>
                  <a:srgbClr val="D9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Score</a:t>
            </a:r>
          </a:p>
        </p:txBody>
      </p:sp>
      <p:sp>
        <p:nvSpPr>
          <p:cNvPr id="0" name="T"/>
          <p:cNvSpPr/>
          <p:nvPr/>
        </p:nvSpPr>
        <p:spPr>
          <a:xfrm>
            <a:off x="914400" y="2723080"/>
            <a:ext cx="20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3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87.02</a:t>
            </a:r>
          </a:p>
        </p:txBody>
      </p:sp>
      <p:sp>
        <p:nvSpPr>
          <p:cNvPr id="0" name="T"/>
          <p:cNvSpPr/>
          <p:nvPr/>
        </p:nvSpPr>
        <p:spPr>
          <a:xfrm>
            <a:off x="914400" y="3403080"/>
            <a:ext cx="49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00" i="1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 of 5 — Batting Pool</a:t>
            </a:r>
          </a:p>
        </p:txBody>
      </p:sp>
      <p:sp>
        <p:nvSpPr>
          <p:cNvPr id="0" name="Card"/>
          <p:cNvSpPr/>
          <p:nvPr/>
        </p:nvSpPr>
        <p:spPr>
          <a:xfrm>
            <a:off x="6260000" y="1783080"/>
            <a:ext cx="5290000" cy="213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DE4"/>
            </a:solidFill>
          </a:ln>
        </p:spPr>
      </p:sp>
      <p:sp>
        <p:nvSpPr>
          <p:cNvPr id="0" name="T"/>
          <p:cNvSpPr/>
          <p:nvPr/>
        </p:nvSpPr>
        <p:spPr>
          <a:xfrm>
            <a:off x="6534320" y="1963080"/>
            <a:ext cx="479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ROLE</a:t>
            </a:r>
          </a:p>
        </p:txBody>
      </p:sp>
      <p:sp>
        <p:nvSpPr>
          <p:cNvPr id="0" name="Bullets"/>
          <p:cNvSpPr/>
          <p:nvPr/>
        </p:nvSpPr>
        <p:spPr>
          <a:xfrm>
            <a:off x="6534320" y="2343080"/>
            <a:ext cx="479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top-order strike rate with a full 360-degree range of shots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by teammates as the Sixers' best player of spin — built for the middle overs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gloveman, adding wicketkeeping value on top of the runs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4100000"/>
            <a:ext cx="10910000" cy="1200000"/>
          </a:xfrm>
          <a:prstGeom prst="roundRect">
            <a:avLst>
              <a:gd name="adj" fmla="val 7000"/>
            </a:avLst>
          </a:prstGeom>
          <a:solidFill>
            <a:srgbClr val="EAF4E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4250000"/>
            <a:ext cx="1041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RECENT FORM</a:t>
            </a:r>
          </a:p>
        </p:txBody>
      </p:sp>
      <p:sp>
        <p:nvSpPr>
          <p:cNvPr id="0" name="Bullets"/>
          <p:cNvSpPr/>
          <p:nvPr/>
        </p:nvSpPr>
        <p:spPr>
          <a:xfrm>
            <a:off x="914400" y="4600000"/>
            <a:ext cx="1036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Sydney Sixers to the 2021 BBL title; Player of the Tournament in BBL|09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Sixers' most prolific opening batter in club history — 2,187 runs at SR 137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Sheffield Shield and Marsh One-Day Cup titles with Western Australia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5480000"/>
            <a:ext cx="10910000" cy="1080000"/>
          </a:xfrm>
          <a:prstGeom prst="roundRect">
            <a:avLst>
              <a:gd name="adj" fmla="val 7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5620000"/>
            <a:ext cx="1041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SHORTLISTED — DATA + INSIGHT</a:t>
            </a:r>
          </a:p>
        </p:txBody>
      </p:sp>
      <p:sp>
        <p:nvSpPr>
          <p:cNvPr id="0" name="T"/>
          <p:cNvSpPr/>
          <p:nvPr/>
        </p:nvSpPr>
        <p:spPr>
          <a:xfrm>
            <a:off x="914400" y="5940000"/>
            <a:ext cx="103600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BSI (87.02) of any batter in the analysis — the model's average, strike-rate and recent-form components all place him clearly ahead, reinforced by a decade-long List A track record.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Player Profiles — Backup Pool Deep-Dive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fil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8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  ·  BATTING POOL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90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Jake Fraser-McGurk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41120"/>
            <a:ext cx="10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24   |   Right-handed   |   Right-arm leg break   |   South Australia / Melbourne Renegades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1783080"/>
            <a:ext cx="5450000" cy="2130000"/>
          </a:xfrm>
          <a:prstGeom prst="roundRect">
            <a:avLst>
              <a:gd name="adj" fmla="val 7000"/>
            </a:avLst>
          </a:prstGeom>
          <a:solidFill>
            <a:srgbClr val="073B29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1983080"/>
            <a:ext cx="49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  ·  FROM THE PROJECT ANALYSIS</a:t>
            </a:r>
          </a:p>
        </p:txBody>
      </p:sp>
      <p:sp>
        <p:nvSpPr>
          <p:cNvPr id="0" name="T"/>
          <p:cNvSpPr/>
          <p:nvPr/>
        </p:nvSpPr>
        <p:spPr>
          <a:xfrm>
            <a:off x="914400" y="2403080"/>
            <a:ext cx="49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50" dirty="0">
                <a:solidFill>
                  <a:srgbClr val="D9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Score</a:t>
            </a:r>
          </a:p>
        </p:txBody>
      </p:sp>
      <p:sp>
        <p:nvSpPr>
          <p:cNvPr id="0" name="T"/>
          <p:cNvSpPr/>
          <p:nvPr/>
        </p:nvSpPr>
        <p:spPr>
          <a:xfrm>
            <a:off x="914400" y="2723080"/>
            <a:ext cx="20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3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52.72</a:t>
            </a:r>
          </a:p>
        </p:txBody>
      </p:sp>
      <p:sp>
        <p:nvSpPr>
          <p:cNvPr id="0" name="T"/>
          <p:cNvSpPr/>
          <p:nvPr/>
        </p:nvSpPr>
        <p:spPr>
          <a:xfrm>
            <a:off x="914400" y="3403080"/>
            <a:ext cx="49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00" i="1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 of 5 — Batting Pool</a:t>
            </a:r>
          </a:p>
        </p:txBody>
      </p:sp>
      <p:sp>
        <p:nvSpPr>
          <p:cNvPr id="0" name="Card"/>
          <p:cNvSpPr/>
          <p:nvPr/>
        </p:nvSpPr>
        <p:spPr>
          <a:xfrm>
            <a:off x="6260000" y="1783080"/>
            <a:ext cx="5290000" cy="213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DE4"/>
            </a:solidFill>
          </a:ln>
        </p:spPr>
      </p:sp>
      <p:sp>
        <p:nvSpPr>
          <p:cNvPr id="0" name="T"/>
          <p:cNvSpPr/>
          <p:nvPr/>
        </p:nvSpPr>
        <p:spPr>
          <a:xfrm>
            <a:off x="6534320" y="1963080"/>
            <a:ext cx="479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ROLE</a:t>
            </a:r>
          </a:p>
        </p:txBody>
      </p:sp>
      <p:sp>
        <p:nvSpPr>
          <p:cNvPr id="0" name="Bullets"/>
          <p:cNvSpPr/>
          <p:nvPr/>
        </p:nvSpPr>
        <p:spPr>
          <a:xfrm>
            <a:off x="6534320" y="2343080"/>
            <a:ext cx="479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strike-rate profile in the pool — built to attack the powerplay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X-factor with the ability to turn a match inside the first 10 overs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part-time leg-spin option adds bowling flexibility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4100000"/>
            <a:ext cx="10910000" cy="1200000"/>
          </a:xfrm>
          <a:prstGeom prst="roundRect">
            <a:avLst>
              <a:gd name="adj" fmla="val 7000"/>
            </a:avLst>
          </a:prstGeom>
          <a:solidFill>
            <a:srgbClr val="EAF4E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4250000"/>
            <a:ext cx="1041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RECENT FORM</a:t>
            </a:r>
          </a:p>
        </p:txBody>
      </p:sp>
      <p:sp>
        <p:nvSpPr>
          <p:cNvPr id="0" name="Bullets"/>
          <p:cNvSpPr/>
          <p:nvPr/>
        </p:nvSpPr>
        <p:spPr>
          <a:xfrm>
            <a:off x="914400" y="4600000"/>
            <a:ext cx="1036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century in List A cricket history — 29 balls (2023-24)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Half-century on IPL debut, then the season's fastest fifty (15 balls)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ODI cap earned in 2024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5480000"/>
            <a:ext cx="10910000" cy="1080000"/>
          </a:xfrm>
          <a:prstGeom prst="roundRect">
            <a:avLst>
              <a:gd name="adj" fmla="val 7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5620000"/>
            <a:ext cx="1041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SHORTLISTED — DATA + INSIGHT</a:t>
            </a:r>
          </a:p>
        </p:txBody>
      </p:sp>
      <p:sp>
        <p:nvSpPr>
          <p:cNvPr id="0" name="T"/>
          <p:cNvSpPr/>
          <p:nvPr/>
        </p:nvSpPr>
        <p:spPr>
          <a:xfrm>
            <a:off x="914400" y="5940000"/>
            <a:ext cx="103600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Second-highest BSI (52.72) — strike-rate and recent-form components dominate his score, statistically confirming what BBL and List A crowds already see: few batters convert balls into runs faster.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Player Profiles — Backup Pool Deep-Dive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fil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8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  ·  BATTING POOL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90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Ollie Davies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41120"/>
            <a:ext cx="10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25   |   Right-handed   |   Right-arm off break   |   New South Wales / Sydney Thunder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1783080"/>
            <a:ext cx="5450000" cy="2130000"/>
          </a:xfrm>
          <a:prstGeom prst="roundRect">
            <a:avLst>
              <a:gd name="adj" fmla="val 7000"/>
            </a:avLst>
          </a:prstGeom>
          <a:solidFill>
            <a:srgbClr val="073B29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1983080"/>
            <a:ext cx="49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  ·  FROM THE PROJECT ANALYSIS</a:t>
            </a:r>
          </a:p>
        </p:txBody>
      </p:sp>
      <p:sp>
        <p:nvSpPr>
          <p:cNvPr id="0" name="T"/>
          <p:cNvSpPr/>
          <p:nvPr/>
        </p:nvSpPr>
        <p:spPr>
          <a:xfrm>
            <a:off x="914400" y="2403080"/>
            <a:ext cx="49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50" dirty="0">
                <a:solidFill>
                  <a:srgbClr val="D9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Score</a:t>
            </a:r>
          </a:p>
        </p:txBody>
      </p:sp>
      <p:sp>
        <p:nvSpPr>
          <p:cNvPr id="0" name="T"/>
          <p:cNvSpPr/>
          <p:nvPr/>
        </p:nvSpPr>
        <p:spPr>
          <a:xfrm>
            <a:off x="914400" y="2723080"/>
            <a:ext cx="20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3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43.59</a:t>
            </a:r>
          </a:p>
        </p:txBody>
      </p:sp>
      <p:sp>
        <p:nvSpPr>
          <p:cNvPr id="0" name="T"/>
          <p:cNvSpPr/>
          <p:nvPr/>
        </p:nvSpPr>
        <p:spPr>
          <a:xfrm>
            <a:off x="914400" y="3403080"/>
            <a:ext cx="49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00" i="1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 of 5 — Batting Pool</a:t>
            </a:r>
          </a:p>
        </p:txBody>
      </p:sp>
      <p:sp>
        <p:nvSpPr>
          <p:cNvPr id="0" name="Card"/>
          <p:cNvSpPr/>
          <p:nvPr/>
        </p:nvSpPr>
        <p:spPr>
          <a:xfrm>
            <a:off x="6260000" y="1783080"/>
            <a:ext cx="5290000" cy="213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DE4"/>
            </a:solidFill>
          </a:ln>
        </p:spPr>
      </p:sp>
      <p:sp>
        <p:nvSpPr>
          <p:cNvPr id="0" name="T"/>
          <p:cNvSpPr/>
          <p:nvPr/>
        </p:nvSpPr>
        <p:spPr>
          <a:xfrm>
            <a:off x="6534320" y="1963080"/>
            <a:ext cx="479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ROLE</a:t>
            </a:r>
          </a:p>
        </p:txBody>
      </p:sp>
      <p:sp>
        <p:nvSpPr>
          <p:cNvPr id="0" name="Bullets"/>
          <p:cNvSpPr/>
          <p:nvPr/>
        </p:nvSpPr>
        <p:spPr>
          <a:xfrm>
            <a:off x="6534320" y="2343080"/>
            <a:ext cx="479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aggressive against spin bowling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Middle-order finisher who has stepped up into a top-order role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off-spin adds bowling depth to the XI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4100000"/>
            <a:ext cx="10910000" cy="1200000"/>
          </a:xfrm>
          <a:prstGeom prst="roundRect">
            <a:avLst>
              <a:gd name="adj" fmla="val 7000"/>
            </a:avLst>
          </a:prstGeom>
          <a:solidFill>
            <a:srgbClr val="EAF4E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4250000"/>
            <a:ext cx="1041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RECENT FORM</a:t>
            </a:r>
          </a:p>
        </p:txBody>
      </p:sp>
      <p:sp>
        <p:nvSpPr>
          <p:cNvPr id="0" name="Bullets"/>
          <p:cNvSpPr/>
          <p:nvPr/>
        </p:nvSpPr>
        <p:spPr>
          <a:xfrm>
            <a:off x="914400" y="4600000"/>
            <a:ext cx="1036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670 first-class runs in just 7 matches — breakout 2023-24 Sheffield Shield season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NSW's leading BBL run-scorer in BBL|12 with 333 runs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Under-19 World Cup representative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5480000"/>
            <a:ext cx="10910000" cy="1080000"/>
          </a:xfrm>
          <a:prstGeom prst="roundRect">
            <a:avLst>
              <a:gd name="adj" fmla="val 7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5620000"/>
            <a:ext cx="1041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SHORTLISTED — DATA + INSIGHT</a:t>
            </a:r>
          </a:p>
        </p:txBody>
      </p:sp>
      <p:sp>
        <p:nvSpPr>
          <p:cNvPr id="0" name="T"/>
          <p:cNvSpPr/>
          <p:nvPr/>
        </p:nvSpPr>
        <p:spPr>
          <a:xfrm>
            <a:off x="914400" y="5940000"/>
            <a:ext cx="103600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BSI of 43.59 sits mid-pool, driven mainly by recent-form and role-suitability weighting — the data flags a batter on an upward trajectory, exactly the profile a backup pool exists to track.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Player Profiles — Backup Pool Deep-Dive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fil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8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  ·  BATTING POOL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90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Nathan McSweeney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41120"/>
            <a:ext cx="10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27   |   Right-handed   |   Right-arm off break   |   South Australia (captain) / Brisbane Heat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1783080"/>
            <a:ext cx="5450000" cy="2130000"/>
          </a:xfrm>
          <a:prstGeom prst="roundRect">
            <a:avLst>
              <a:gd name="adj" fmla="val 7000"/>
            </a:avLst>
          </a:prstGeom>
          <a:solidFill>
            <a:srgbClr val="073B29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1983080"/>
            <a:ext cx="49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  ·  FROM THE PROJECT ANALYSIS</a:t>
            </a:r>
          </a:p>
        </p:txBody>
      </p:sp>
      <p:sp>
        <p:nvSpPr>
          <p:cNvPr id="0" name="T"/>
          <p:cNvSpPr/>
          <p:nvPr/>
        </p:nvSpPr>
        <p:spPr>
          <a:xfrm>
            <a:off x="914400" y="2403080"/>
            <a:ext cx="49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50" dirty="0">
                <a:solidFill>
                  <a:srgbClr val="D9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Score</a:t>
            </a:r>
          </a:p>
        </p:txBody>
      </p:sp>
      <p:sp>
        <p:nvSpPr>
          <p:cNvPr id="0" name="T"/>
          <p:cNvSpPr/>
          <p:nvPr/>
        </p:nvSpPr>
        <p:spPr>
          <a:xfrm>
            <a:off x="914400" y="2723080"/>
            <a:ext cx="20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3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39.84</a:t>
            </a:r>
          </a:p>
        </p:txBody>
      </p:sp>
      <p:sp>
        <p:nvSpPr>
          <p:cNvPr id="0" name="T"/>
          <p:cNvSpPr/>
          <p:nvPr/>
        </p:nvSpPr>
        <p:spPr>
          <a:xfrm>
            <a:off x="914400" y="3403080"/>
            <a:ext cx="49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00" i="1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4 of 5 — Batting Pool</a:t>
            </a:r>
          </a:p>
        </p:txBody>
      </p:sp>
      <p:sp>
        <p:nvSpPr>
          <p:cNvPr id="0" name="Card"/>
          <p:cNvSpPr/>
          <p:nvPr/>
        </p:nvSpPr>
        <p:spPr>
          <a:xfrm>
            <a:off x="6260000" y="1783080"/>
            <a:ext cx="5290000" cy="213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DE4"/>
            </a:solidFill>
          </a:ln>
        </p:spPr>
      </p:sp>
      <p:sp>
        <p:nvSpPr>
          <p:cNvPr id="0" name="T"/>
          <p:cNvSpPr/>
          <p:nvPr/>
        </p:nvSpPr>
        <p:spPr>
          <a:xfrm>
            <a:off x="6534320" y="1963080"/>
            <a:ext cx="479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ROLE</a:t>
            </a:r>
          </a:p>
        </p:txBody>
      </p:sp>
      <p:sp>
        <p:nvSpPr>
          <p:cNvPr id="0" name="Bullets"/>
          <p:cNvSpPr/>
          <p:nvPr/>
        </p:nvSpPr>
        <p:spPr>
          <a:xfrm>
            <a:off x="6534320" y="2343080"/>
            <a:ext cx="479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top-order technique built for long innings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leader — currently captains South Australia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off-spin option gives the fielding side a fifth bowler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4100000"/>
            <a:ext cx="10910000" cy="1200000"/>
          </a:xfrm>
          <a:prstGeom prst="roundRect">
            <a:avLst>
              <a:gd name="adj" fmla="val 7000"/>
            </a:avLst>
          </a:prstGeom>
          <a:solidFill>
            <a:srgbClr val="EAF4E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4250000"/>
            <a:ext cx="1041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RECENT FORM</a:t>
            </a:r>
          </a:p>
        </p:txBody>
      </p:sp>
      <p:sp>
        <p:nvSpPr>
          <p:cNvPr id="0" name="Bullets"/>
          <p:cNvSpPr/>
          <p:nvPr/>
        </p:nvSpPr>
        <p:spPr>
          <a:xfrm>
            <a:off x="914400" y="4600000"/>
            <a:ext cx="1036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South Australia to a Sheffield Shield and One-Day Cup double as captain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 the Marsh One-Day Cup Team of the Tournament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debut for Australia in 2024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5480000"/>
            <a:ext cx="10910000" cy="1080000"/>
          </a:xfrm>
          <a:prstGeom prst="roundRect">
            <a:avLst>
              <a:gd name="adj" fmla="val 7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5620000"/>
            <a:ext cx="1041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SHORTLISTED — DATA + INSIGHT</a:t>
            </a:r>
          </a:p>
        </p:txBody>
      </p:sp>
      <p:sp>
        <p:nvSpPr>
          <p:cNvPr id="0" name="T"/>
          <p:cNvSpPr/>
          <p:nvPr/>
        </p:nvSpPr>
        <p:spPr>
          <a:xfrm>
            <a:off x="914400" y="5940000"/>
            <a:ext cx="103600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BSI (39.84) reflects a technically correct but lower-strike-rate game rather than a weakness — the role-suitability weighting rewards his leadership and consistency, both valuable in succession planning.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Player Profiles — Backup Pool Deep-Dive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fil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8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  ·  BATTING POOL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90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Jake Weatherald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41120"/>
            <a:ext cx="10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31   |   Left-handed   |   Leg break   |   South Australia / Hobart Hurricanes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1783080"/>
            <a:ext cx="5450000" cy="2130000"/>
          </a:xfrm>
          <a:prstGeom prst="roundRect">
            <a:avLst>
              <a:gd name="adj" fmla="val 7000"/>
            </a:avLst>
          </a:prstGeom>
          <a:solidFill>
            <a:srgbClr val="073B29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1983080"/>
            <a:ext cx="49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  ·  FROM THE PROJECT ANALYSIS</a:t>
            </a:r>
          </a:p>
        </p:txBody>
      </p:sp>
      <p:sp>
        <p:nvSpPr>
          <p:cNvPr id="0" name="T"/>
          <p:cNvSpPr/>
          <p:nvPr/>
        </p:nvSpPr>
        <p:spPr>
          <a:xfrm>
            <a:off x="914400" y="2403080"/>
            <a:ext cx="49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50" dirty="0">
                <a:solidFill>
                  <a:srgbClr val="D9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Score</a:t>
            </a:r>
          </a:p>
        </p:txBody>
      </p:sp>
      <p:sp>
        <p:nvSpPr>
          <p:cNvPr id="0" name="T"/>
          <p:cNvSpPr/>
          <p:nvPr/>
        </p:nvSpPr>
        <p:spPr>
          <a:xfrm>
            <a:off x="914400" y="2723080"/>
            <a:ext cx="20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3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29.03</a:t>
            </a:r>
          </a:p>
        </p:txBody>
      </p:sp>
      <p:sp>
        <p:nvSpPr>
          <p:cNvPr id="0" name="T"/>
          <p:cNvSpPr/>
          <p:nvPr/>
        </p:nvSpPr>
        <p:spPr>
          <a:xfrm>
            <a:off x="914400" y="3403080"/>
            <a:ext cx="49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00" i="1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5 of 5 — Batting Pool</a:t>
            </a:r>
          </a:p>
        </p:txBody>
      </p:sp>
      <p:sp>
        <p:nvSpPr>
          <p:cNvPr id="0" name="Card"/>
          <p:cNvSpPr/>
          <p:nvPr/>
        </p:nvSpPr>
        <p:spPr>
          <a:xfrm>
            <a:off x="6260000" y="1783080"/>
            <a:ext cx="5290000" cy="213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DE4"/>
            </a:solidFill>
          </a:ln>
        </p:spPr>
      </p:sp>
      <p:sp>
        <p:nvSpPr>
          <p:cNvPr id="0" name="T"/>
          <p:cNvSpPr/>
          <p:nvPr/>
        </p:nvSpPr>
        <p:spPr>
          <a:xfrm>
            <a:off x="6534320" y="1963080"/>
            <a:ext cx="479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ROLE</a:t>
            </a:r>
          </a:p>
        </p:txBody>
      </p:sp>
      <p:sp>
        <p:nvSpPr>
          <p:cNvPr id="0" name="Bullets"/>
          <p:cNvSpPr/>
          <p:nvPr/>
        </p:nvSpPr>
        <p:spPr>
          <a:xfrm>
            <a:off x="6534320" y="2343080"/>
            <a:ext cx="479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Left-handed opener who disrupts new-ball bowling lines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domestic track record of converting starts into big scores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Leg-spin option available in reserve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4100000"/>
            <a:ext cx="10910000" cy="1200000"/>
          </a:xfrm>
          <a:prstGeom prst="roundRect">
            <a:avLst>
              <a:gd name="adj" fmla="val 7000"/>
            </a:avLst>
          </a:prstGeom>
          <a:solidFill>
            <a:srgbClr val="EAF4E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4250000"/>
            <a:ext cx="1041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RECENT FORM</a:t>
            </a:r>
          </a:p>
        </p:txBody>
      </p:sp>
      <p:sp>
        <p:nvSpPr>
          <p:cNvPr id="0" name="Bullets"/>
          <p:cNvSpPr/>
          <p:nvPr/>
        </p:nvSpPr>
        <p:spPr>
          <a:xfrm>
            <a:off x="914400" y="4600000"/>
            <a:ext cx="1036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prolific domestic run-scorer under 25 in his debut season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900+ first-class runs in the 2024-25 season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Test cap for Australia in November 2025, after a decade in state cricket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5480000"/>
            <a:ext cx="10910000" cy="1080000"/>
          </a:xfrm>
          <a:prstGeom prst="roundRect">
            <a:avLst>
              <a:gd name="adj" fmla="val 7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5620000"/>
            <a:ext cx="1041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SHORTLISTED — DATA + INSIGHT</a:t>
            </a:r>
          </a:p>
        </p:txBody>
      </p:sp>
      <p:sp>
        <p:nvSpPr>
          <p:cNvPr id="0" name="T"/>
          <p:cNvSpPr/>
          <p:nvPr/>
        </p:nvSpPr>
        <p:spPr>
          <a:xfrm>
            <a:off x="914400" y="5940000"/>
            <a:ext cx="103600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BSI in the pool (29.03), largely a recent-form effect — but his longevity and fresh Test debut show the model's recency weighting can undervalue proven campaigners, which is why the pool carries five names, not one.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Player Profiles — Backup Pool Deep-Dive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fil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8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  ·  BOWLING POOL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90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 Morris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41120"/>
            <a:ext cx="10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28   |   Right-handed (lower order)   |   Right-arm fast   |   Western Australia / Perth Scorchers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1783080"/>
            <a:ext cx="5450000" cy="2130000"/>
          </a:xfrm>
          <a:prstGeom prst="roundRect">
            <a:avLst>
              <a:gd name="adj" fmla="val 7000"/>
            </a:avLst>
          </a:prstGeom>
          <a:solidFill>
            <a:srgbClr val="073B29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1983080"/>
            <a:ext cx="49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  ·  FROM THE PROJECT ANALYSIS</a:t>
            </a:r>
          </a:p>
        </p:txBody>
      </p:sp>
      <p:sp>
        <p:nvSpPr>
          <p:cNvPr id="0" name="T"/>
          <p:cNvSpPr/>
          <p:nvPr/>
        </p:nvSpPr>
        <p:spPr>
          <a:xfrm>
            <a:off x="914400" y="2403080"/>
            <a:ext cx="49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50" dirty="0">
                <a:solidFill>
                  <a:srgbClr val="D9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BoSI Score</a:t>
            </a:r>
          </a:p>
        </p:txBody>
      </p:sp>
      <p:sp>
        <p:nvSpPr>
          <p:cNvPr id="0" name="T"/>
          <p:cNvSpPr/>
          <p:nvPr/>
        </p:nvSpPr>
        <p:spPr>
          <a:xfrm>
            <a:off x="914400" y="2723080"/>
            <a:ext cx="20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3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92.38</a:t>
            </a:r>
          </a:p>
        </p:txBody>
      </p:sp>
      <p:sp>
        <p:nvSpPr>
          <p:cNvPr id="0" name="T"/>
          <p:cNvSpPr/>
          <p:nvPr/>
        </p:nvSpPr>
        <p:spPr>
          <a:xfrm>
            <a:off x="914400" y="3403080"/>
            <a:ext cx="49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00" i="1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 of 5 — Bowling Pool</a:t>
            </a:r>
          </a:p>
        </p:txBody>
      </p:sp>
      <p:sp>
        <p:nvSpPr>
          <p:cNvPr id="0" name="Card"/>
          <p:cNvSpPr/>
          <p:nvPr/>
        </p:nvSpPr>
        <p:spPr>
          <a:xfrm>
            <a:off x="6260000" y="1783080"/>
            <a:ext cx="5290000" cy="213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DE4"/>
            </a:solidFill>
          </a:ln>
        </p:spPr>
      </p:sp>
      <p:sp>
        <p:nvSpPr>
          <p:cNvPr id="0" name="T"/>
          <p:cNvSpPr/>
          <p:nvPr/>
        </p:nvSpPr>
        <p:spPr>
          <a:xfrm>
            <a:off x="6534320" y="1963080"/>
            <a:ext cx="479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ROLE</a:t>
            </a:r>
          </a:p>
        </p:txBody>
      </p:sp>
      <p:sp>
        <p:nvSpPr>
          <p:cNvPr id="0" name="Bullets"/>
          <p:cNvSpPr/>
          <p:nvPr/>
        </p:nvSpPr>
        <p:spPr>
          <a:xfrm>
            <a:off x="6534320" y="2343080"/>
            <a:ext cx="479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150km/h+ pace — among the fastest bowlers in Australia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Wicket-taking threat with the new ball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X-factor option for both powerplay and death overs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4100000"/>
            <a:ext cx="10910000" cy="1200000"/>
          </a:xfrm>
          <a:prstGeom prst="roundRect">
            <a:avLst>
              <a:gd name="adj" fmla="val 7000"/>
            </a:avLst>
          </a:prstGeom>
          <a:solidFill>
            <a:srgbClr val="EAF4E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4250000"/>
            <a:ext cx="1041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RECENT FORM</a:t>
            </a:r>
          </a:p>
        </p:txBody>
      </p:sp>
      <p:sp>
        <p:nvSpPr>
          <p:cNvPr id="0" name="Bullets"/>
          <p:cNvSpPr/>
          <p:nvPr/>
        </p:nvSpPr>
        <p:spPr>
          <a:xfrm>
            <a:off x="914400" y="4600000"/>
            <a:ext cx="1036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Men's Rising Star (Laurie Sawle Medal)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wickets at 27.05 in WA's title-winning 2021-22 Sheffield Shield campaign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 debut for Australia in February 2024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5480000"/>
            <a:ext cx="10910000" cy="1080000"/>
          </a:xfrm>
          <a:prstGeom prst="roundRect">
            <a:avLst>
              <a:gd name="adj" fmla="val 7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5620000"/>
            <a:ext cx="1041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SHORTLISTED — DATA + INSIGHT</a:t>
            </a:r>
          </a:p>
        </p:txBody>
      </p:sp>
      <p:sp>
        <p:nvSpPr>
          <p:cNvPr id="0" name="T"/>
          <p:cNvSpPr/>
          <p:nvPr/>
        </p:nvSpPr>
        <p:spPr>
          <a:xfrm>
            <a:off x="914400" y="5940000"/>
            <a:ext cx="103600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BoSI (92.38) in the analysis — his average, economy and strike-rate scores all sit near the top after reverse-scaling, meaning the raw pace translates directly into wickets, not just speed-gun highlights.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Player Profiles — Backup Pool Deep-Dive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fil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8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  ·  BOWLING POOL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90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Fergus O'Neill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41120"/>
            <a:ext cx="10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25   |   Right-handed   |   Right-arm fast-medium   |   Victoria / Melbourne Renegades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1783080"/>
            <a:ext cx="5450000" cy="2130000"/>
          </a:xfrm>
          <a:prstGeom prst="roundRect">
            <a:avLst>
              <a:gd name="adj" fmla="val 7000"/>
            </a:avLst>
          </a:prstGeom>
          <a:solidFill>
            <a:srgbClr val="073B29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1983080"/>
            <a:ext cx="49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  ·  FROM THE PROJECT ANALYSIS</a:t>
            </a:r>
          </a:p>
        </p:txBody>
      </p:sp>
      <p:sp>
        <p:nvSpPr>
          <p:cNvPr id="0" name="T"/>
          <p:cNvSpPr/>
          <p:nvPr/>
        </p:nvSpPr>
        <p:spPr>
          <a:xfrm>
            <a:off x="914400" y="2403080"/>
            <a:ext cx="49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50" dirty="0">
                <a:solidFill>
                  <a:srgbClr val="D9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BoSI Score</a:t>
            </a:r>
          </a:p>
        </p:txBody>
      </p:sp>
      <p:sp>
        <p:nvSpPr>
          <p:cNvPr id="0" name="T"/>
          <p:cNvSpPr/>
          <p:nvPr/>
        </p:nvSpPr>
        <p:spPr>
          <a:xfrm>
            <a:off x="914400" y="2723080"/>
            <a:ext cx="20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3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74.12</a:t>
            </a:r>
          </a:p>
        </p:txBody>
      </p:sp>
      <p:sp>
        <p:nvSpPr>
          <p:cNvPr id="0" name="T"/>
          <p:cNvSpPr/>
          <p:nvPr/>
        </p:nvSpPr>
        <p:spPr>
          <a:xfrm>
            <a:off x="914400" y="3403080"/>
            <a:ext cx="49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00" i="1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 of 5 — Bowling Pool</a:t>
            </a:r>
          </a:p>
        </p:txBody>
      </p:sp>
      <p:sp>
        <p:nvSpPr>
          <p:cNvPr id="0" name="Card"/>
          <p:cNvSpPr/>
          <p:nvPr/>
        </p:nvSpPr>
        <p:spPr>
          <a:xfrm>
            <a:off x="6260000" y="1783080"/>
            <a:ext cx="5290000" cy="213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DE4"/>
            </a:solidFill>
          </a:ln>
        </p:spPr>
      </p:sp>
      <p:sp>
        <p:nvSpPr>
          <p:cNvPr id="0" name="T"/>
          <p:cNvSpPr/>
          <p:nvPr/>
        </p:nvSpPr>
        <p:spPr>
          <a:xfrm>
            <a:off x="6534320" y="1963080"/>
            <a:ext cx="479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ROLE</a:t>
            </a:r>
          </a:p>
        </p:txBody>
      </p:sp>
      <p:sp>
        <p:nvSpPr>
          <p:cNvPr id="0" name="Bullets"/>
          <p:cNvSpPr/>
          <p:nvPr/>
        </p:nvSpPr>
        <p:spPr>
          <a:xfrm>
            <a:off x="6534320" y="2343080"/>
            <a:ext cx="479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Relentless accuracy and seam movement over raw pace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bowling all-rounder with useful lower-middle-order batting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new-ball and first-change option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4100000"/>
            <a:ext cx="10910000" cy="1200000"/>
          </a:xfrm>
          <a:prstGeom prst="roundRect">
            <a:avLst>
              <a:gd name="adj" fmla="val 7000"/>
            </a:avLst>
          </a:prstGeom>
          <a:solidFill>
            <a:srgbClr val="EAF4E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4250000"/>
            <a:ext cx="1041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RECENT FORM</a:t>
            </a:r>
          </a:p>
        </p:txBody>
      </p:sp>
      <p:sp>
        <p:nvSpPr>
          <p:cNvPr id="0" name="Bullets"/>
          <p:cNvSpPr/>
          <p:nvPr/>
        </p:nvSpPr>
        <p:spPr>
          <a:xfrm>
            <a:off x="914400" y="4600000"/>
            <a:ext cx="1036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Victoria's Sheffield Shield Player of the Year 2023-24 — 38 wickets at 21.07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Bradman Young Cricketer of the Year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cricket's leading wicket-taker for Nottinghamshire — 21 wickets in 4 matches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5480000"/>
            <a:ext cx="10910000" cy="1080000"/>
          </a:xfrm>
          <a:prstGeom prst="roundRect">
            <a:avLst>
              <a:gd name="adj" fmla="val 7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5620000"/>
            <a:ext cx="1041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SHORTLISTED — DATA + INSIGHT</a:t>
            </a:r>
          </a:p>
        </p:txBody>
      </p:sp>
      <p:sp>
        <p:nvSpPr>
          <p:cNvPr id="0" name="T"/>
          <p:cNvSpPr/>
          <p:nvPr/>
        </p:nvSpPr>
        <p:spPr>
          <a:xfrm>
            <a:off x="914400" y="5940000"/>
            <a:ext cx="103600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BoSI of 74.12 is built almost entirely on control — his economy and average scores are elite even without Morris's raw pace, illustrating exactly why the model weights economy and average above recent form.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Player Profiles — Backup Pool Deep-Dive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fil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8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  ·  BOWLING POOL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90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Xavier Bartlett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41120"/>
            <a:ext cx="10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27   |   Right-handed   |   Right-arm fast-medium   |   Queensland / Brisbane Heat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1783080"/>
            <a:ext cx="5450000" cy="2130000"/>
          </a:xfrm>
          <a:prstGeom prst="roundRect">
            <a:avLst>
              <a:gd name="adj" fmla="val 7000"/>
            </a:avLst>
          </a:prstGeom>
          <a:solidFill>
            <a:srgbClr val="073B29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1983080"/>
            <a:ext cx="49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  ·  FROM THE PROJECT ANALYSIS</a:t>
            </a:r>
          </a:p>
        </p:txBody>
      </p:sp>
      <p:sp>
        <p:nvSpPr>
          <p:cNvPr id="0" name="T"/>
          <p:cNvSpPr/>
          <p:nvPr/>
        </p:nvSpPr>
        <p:spPr>
          <a:xfrm>
            <a:off x="914400" y="2403080"/>
            <a:ext cx="49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50" dirty="0">
                <a:solidFill>
                  <a:srgbClr val="D9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BoSI Score</a:t>
            </a:r>
          </a:p>
        </p:txBody>
      </p:sp>
      <p:sp>
        <p:nvSpPr>
          <p:cNvPr id="0" name="T"/>
          <p:cNvSpPr/>
          <p:nvPr/>
        </p:nvSpPr>
        <p:spPr>
          <a:xfrm>
            <a:off x="914400" y="2723080"/>
            <a:ext cx="20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3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51.99</a:t>
            </a:r>
          </a:p>
        </p:txBody>
      </p:sp>
      <p:sp>
        <p:nvSpPr>
          <p:cNvPr id="0" name="T"/>
          <p:cNvSpPr/>
          <p:nvPr/>
        </p:nvSpPr>
        <p:spPr>
          <a:xfrm>
            <a:off x="914400" y="3403080"/>
            <a:ext cx="49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00" i="1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 of 5 — Bowling Pool</a:t>
            </a:r>
          </a:p>
        </p:txBody>
      </p:sp>
      <p:sp>
        <p:nvSpPr>
          <p:cNvPr id="0" name="Card"/>
          <p:cNvSpPr/>
          <p:nvPr/>
        </p:nvSpPr>
        <p:spPr>
          <a:xfrm>
            <a:off x="6260000" y="1783080"/>
            <a:ext cx="5290000" cy="213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DE4"/>
            </a:solidFill>
          </a:ln>
        </p:spPr>
      </p:sp>
      <p:sp>
        <p:nvSpPr>
          <p:cNvPr id="0" name="T"/>
          <p:cNvSpPr/>
          <p:nvPr/>
        </p:nvSpPr>
        <p:spPr>
          <a:xfrm>
            <a:off x="6534320" y="1963080"/>
            <a:ext cx="479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ROLE</a:t>
            </a:r>
          </a:p>
        </p:txBody>
      </p:sp>
      <p:sp>
        <p:nvSpPr>
          <p:cNvPr id="0" name="Bullets"/>
          <p:cNvSpPr/>
          <p:nvPr/>
        </p:nvSpPr>
        <p:spPr>
          <a:xfrm>
            <a:off x="6534320" y="2343080"/>
            <a:ext cx="479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Swings the new ball both ways at genuine pace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powerplay operator with early breakthroughs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has international white-ball experience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4100000"/>
            <a:ext cx="10910000" cy="1200000"/>
          </a:xfrm>
          <a:prstGeom prst="roundRect">
            <a:avLst>
              <a:gd name="adj" fmla="val 7000"/>
            </a:avLst>
          </a:prstGeom>
          <a:solidFill>
            <a:srgbClr val="EAF4E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4250000"/>
            <a:ext cx="1041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RECENT FORM</a:t>
            </a:r>
          </a:p>
        </p:txBody>
      </p:sp>
      <p:sp>
        <p:nvSpPr>
          <p:cNvPr id="0" name="Bullets"/>
          <p:cNvSpPr/>
          <p:nvPr/>
        </p:nvSpPr>
        <p:spPr>
          <a:xfrm>
            <a:off x="914400" y="4600000"/>
            <a:ext cx="1036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wicket-taker in Brisbane Heat's BBL|13 title-winning campaign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4/17 on ODI debut in 2024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Sheffield Shield titles with Queensland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5480000"/>
            <a:ext cx="10910000" cy="1080000"/>
          </a:xfrm>
          <a:prstGeom prst="roundRect">
            <a:avLst>
              <a:gd name="adj" fmla="val 7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5620000"/>
            <a:ext cx="1041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SHORTLISTED — DATA + INSIGHT</a:t>
            </a:r>
          </a:p>
        </p:txBody>
      </p:sp>
      <p:sp>
        <p:nvSpPr>
          <p:cNvPr id="0" name="T"/>
          <p:cNvSpPr/>
          <p:nvPr/>
        </p:nvSpPr>
        <p:spPr>
          <a:xfrm>
            <a:off x="914400" y="5940000"/>
            <a:ext cx="103600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BoSI of 51.99 reflects strong recent-form and role scores offset by a slightly higher economy than the two bowlers above him — the data suggests a bowler already at international level, not a development prospect.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Player Profiles — Backup Pool Deep-Dive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fil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8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  ·  BOWLING POOL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90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Spencer Johnson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41120"/>
            <a:ext cx="10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30   |   Left-handed   |   Left-arm fast   |   South Australia / Brisbane Heat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1783080"/>
            <a:ext cx="5450000" cy="2130000"/>
          </a:xfrm>
          <a:prstGeom prst="roundRect">
            <a:avLst>
              <a:gd name="adj" fmla="val 7000"/>
            </a:avLst>
          </a:prstGeom>
          <a:solidFill>
            <a:srgbClr val="073B29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1983080"/>
            <a:ext cx="49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  ·  FROM THE PROJECT ANALYSIS</a:t>
            </a:r>
          </a:p>
        </p:txBody>
      </p:sp>
      <p:sp>
        <p:nvSpPr>
          <p:cNvPr id="0" name="T"/>
          <p:cNvSpPr/>
          <p:nvPr/>
        </p:nvSpPr>
        <p:spPr>
          <a:xfrm>
            <a:off x="914400" y="2403080"/>
            <a:ext cx="49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50" dirty="0">
                <a:solidFill>
                  <a:srgbClr val="D9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BoSI Score</a:t>
            </a:r>
          </a:p>
        </p:txBody>
      </p:sp>
      <p:sp>
        <p:nvSpPr>
          <p:cNvPr id="0" name="T"/>
          <p:cNvSpPr/>
          <p:nvPr/>
        </p:nvSpPr>
        <p:spPr>
          <a:xfrm>
            <a:off x="914400" y="2723080"/>
            <a:ext cx="20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3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44.22</a:t>
            </a:r>
          </a:p>
        </p:txBody>
      </p:sp>
      <p:sp>
        <p:nvSpPr>
          <p:cNvPr id="0" name="T"/>
          <p:cNvSpPr/>
          <p:nvPr/>
        </p:nvSpPr>
        <p:spPr>
          <a:xfrm>
            <a:off x="914400" y="3403080"/>
            <a:ext cx="49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00" i="1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4 of 5 — Bowling Pool</a:t>
            </a:r>
          </a:p>
        </p:txBody>
      </p:sp>
      <p:sp>
        <p:nvSpPr>
          <p:cNvPr id="0" name="Card"/>
          <p:cNvSpPr/>
          <p:nvPr/>
        </p:nvSpPr>
        <p:spPr>
          <a:xfrm>
            <a:off x="6260000" y="1783080"/>
            <a:ext cx="5290000" cy="213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DE4"/>
            </a:solidFill>
          </a:ln>
        </p:spPr>
      </p:sp>
      <p:sp>
        <p:nvSpPr>
          <p:cNvPr id="0" name="T"/>
          <p:cNvSpPr/>
          <p:nvPr/>
        </p:nvSpPr>
        <p:spPr>
          <a:xfrm>
            <a:off x="6534320" y="1963080"/>
            <a:ext cx="479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ROLE</a:t>
            </a:r>
          </a:p>
        </p:txBody>
      </p:sp>
      <p:sp>
        <p:nvSpPr>
          <p:cNvPr id="0" name="Bullets"/>
          <p:cNvSpPr/>
          <p:nvPr/>
        </p:nvSpPr>
        <p:spPr>
          <a:xfrm>
            <a:off x="6534320" y="2343080"/>
            <a:ext cx="479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Left-arm pace variation none of the other four bowlers offer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hit-the-deck pace exceeding 150km/h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big-match performer under pressure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4100000"/>
            <a:ext cx="10910000" cy="1200000"/>
          </a:xfrm>
          <a:prstGeom prst="roundRect">
            <a:avLst>
              <a:gd name="adj" fmla="val 7000"/>
            </a:avLst>
          </a:prstGeom>
          <a:solidFill>
            <a:srgbClr val="EAF4E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4250000"/>
            <a:ext cx="1041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RECENT FORM</a:t>
            </a:r>
          </a:p>
        </p:txBody>
      </p:sp>
      <p:sp>
        <p:nvSpPr>
          <p:cNvPr id="0" name="Bullets"/>
          <p:cNvSpPr/>
          <p:nvPr/>
        </p:nvSpPr>
        <p:spPr>
          <a:xfrm>
            <a:off x="914400" y="4600000"/>
            <a:ext cx="1036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6/87 on first-class debut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 2024 title with Brisbane Heat and Player of the Match in the final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international honours in both ODI and T20I cricket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5480000"/>
            <a:ext cx="10910000" cy="1080000"/>
          </a:xfrm>
          <a:prstGeom prst="roundRect">
            <a:avLst>
              <a:gd name="adj" fmla="val 7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5620000"/>
            <a:ext cx="1041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SHORTLISTED — DATA + INSIGHT</a:t>
            </a:r>
          </a:p>
        </p:txBody>
      </p:sp>
      <p:sp>
        <p:nvSpPr>
          <p:cNvPr id="0" name="T"/>
          <p:cNvSpPr/>
          <p:nvPr/>
        </p:nvSpPr>
        <p:spPr>
          <a:xfrm>
            <a:off x="914400" y="5940000"/>
            <a:ext cx="103600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BoSI of 44.22 is pulled down by a wicket-taking strike rate that lags the bowlers above him, but the model still ranks him inside the top four — the left-arm angle is a point of difference the raw index doesn't fully capture.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Player Profiles — Backup Pool Deep-Dive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fil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8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  ·  BOWLING POOL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90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2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Brendan Doggett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41120"/>
            <a:ext cx="10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32   |   Right-handed   |   Right-arm fast-medium   |   South Australia / Adelaide Strikers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1783080"/>
            <a:ext cx="5450000" cy="2130000"/>
          </a:xfrm>
          <a:prstGeom prst="roundRect">
            <a:avLst>
              <a:gd name="adj" fmla="val 7000"/>
            </a:avLst>
          </a:prstGeom>
          <a:solidFill>
            <a:srgbClr val="073B29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1983080"/>
            <a:ext cx="49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  ·  FROM THE PROJECT ANALYSIS</a:t>
            </a:r>
          </a:p>
        </p:txBody>
      </p:sp>
      <p:sp>
        <p:nvSpPr>
          <p:cNvPr id="0" name="T"/>
          <p:cNvSpPr/>
          <p:nvPr/>
        </p:nvSpPr>
        <p:spPr>
          <a:xfrm>
            <a:off x="914400" y="2403080"/>
            <a:ext cx="49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50" dirty="0">
                <a:solidFill>
                  <a:srgbClr val="D9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BoSI Score</a:t>
            </a:r>
          </a:p>
        </p:txBody>
      </p:sp>
      <p:sp>
        <p:nvSpPr>
          <p:cNvPr id="0" name="T"/>
          <p:cNvSpPr/>
          <p:nvPr/>
        </p:nvSpPr>
        <p:spPr>
          <a:xfrm>
            <a:off x="914400" y="2723080"/>
            <a:ext cx="20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32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36.03</a:t>
            </a:r>
          </a:p>
        </p:txBody>
      </p:sp>
      <p:sp>
        <p:nvSpPr>
          <p:cNvPr id="0" name="T"/>
          <p:cNvSpPr/>
          <p:nvPr/>
        </p:nvSpPr>
        <p:spPr>
          <a:xfrm>
            <a:off x="914400" y="3403080"/>
            <a:ext cx="49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00" i="1" dirty="0">
                <a:solidFill>
                  <a:srgbClr val="9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5 of 5 — Bowling Pool</a:t>
            </a:r>
          </a:p>
        </p:txBody>
      </p:sp>
      <p:sp>
        <p:nvSpPr>
          <p:cNvPr id="0" name="Card"/>
          <p:cNvSpPr/>
          <p:nvPr/>
        </p:nvSpPr>
        <p:spPr>
          <a:xfrm>
            <a:off x="6260000" y="1783080"/>
            <a:ext cx="5290000" cy="213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DE4"/>
            </a:solidFill>
          </a:ln>
        </p:spPr>
      </p:sp>
      <p:sp>
        <p:nvSpPr>
          <p:cNvPr id="0" name="T"/>
          <p:cNvSpPr/>
          <p:nvPr/>
        </p:nvSpPr>
        <p:spPr>
          <a:xfrm>
            <a:off x="6534320" y="1963080"/>
            <a:ext cx="479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ROLE</a:t>
            </a:r>
          </a:p>
        </p:txBody>
      </p:sp>
      <p:sp>
        <p:nvSpPr>
          <p:cNvPr id="0" name="Bullets"/>
          <p:cNvSpPr/>
          <p:nvPr/>
        </p:nvSpPr>
        <p:spPr>
          <a:xfrm>
            <a:off x="6534320" y="2343080"/>
            <a:ext cx="479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Vastly experienced new-ball operator with over a decade of first-class cricket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big-match performer in Sheffield Shield finals</a:t>
            </a:r>
          </a:p>
          <a:p>
            <a:pPr indent="-137160" marL="137160">
              <a:buFont typeface="Arial"/>
              <a:buChar char="•"/>
              <a:spcAft>
                <a:spcPts val="8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control under pressure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4100000"/>
            <a:ext cx="10910000" cy="1200000"/>
          </a:xfrm>
          <a:prstGeom prst="roundRect">
            <a:avLst>
              <a:gd name="adj" fmla="val 7000"/>
            </a:avLst>
          </a:prstGeom>
          <a:solidFill>
            <a:srgbClr val="EAF4E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4250000"/>
            <a:ext cx="1041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RECENT FORM</a:t>
            </a:r>
          </a:p>
        </p:txBody>
      </p:sp>
      <p:sp>
        <p:nvSpPr>
          <p:cNvPr id="0" name="Bullets"/>
          <p:cNvSpPr/>
          <p:nvPr/>
        </p:nvSpPr>
        <p:spPr>
          <a:xfrm>
            <a:off x="914400" y="4600000"/>
            <a:ext cx="1036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Sheffield Shield title with Queensland (2020-21)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Test cap for Australia in November 2025, at age 31</a:t>
            </a:r>
          </a:p>
          <a:p>
            <a:pPr indent="-137160" marL="137160">
              <a:buFont typeface="Arial"/>
              <a:buChar char="•"/>
              <a:spcAft>
                <a:spcPts val="400"/>
              </a:spcAft>
            </a:pPr>
            <a:r>
              <a:rPr lang="en-US" sz="108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Long-serving frontline quick across three states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5480000"/>
            <a:ext cx="10910000" cy="1080000"/>
          </a:xfrm>
          <a:prstGeom prst="roundRect">
            <a:avLst>
              <a:gd name="adj" fmla="val 7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914400" y="5620000"/>
            <a:ext cx="1041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50" b="1" spc="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SHORTLISTED — DATA + INSIGHT</a:t>
            </a:r>
          </a:p>
        </p:txBody>
      </p:sp>
      <p:sp>
        <p:nvSpPr>
          <p:cNvPr id="0" name="T"/>
          <p:cNvSpPr/>
          <p:nvPr/>
        </p:nvSpPr>
        <p:spPr>
          <a:xfrm>
            <a:off x="914400" y="5940000"/>
            <a:ext cx="103600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0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BoSI in the pool (36.03) — largely a recent-form effect given a red-ball focus in 2025-26 — but his fresh Test debut is the clearest example in this project of why domestic-form scores need to sit alongside human judgement.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Player Profiles — Backup Pool Deep-Dive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cel Evidenc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EXCEL WORKBOOK OUTPUT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105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BSI Rankings — Workbook Extract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00000"/>
            <a:ext cx="108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file: Grow_Sports_Analytics.xlsx   |   Sheet: BSI Rankings   |   Produced by Code 6 (Rankings &amp; Excel Output)</a:t>
            </a:r>
          </a:p>
        </p:txBody>
      </p:sp>
      <p:sp>
        <p:nvSpPr>
          <p:cNvPr id="0" name="Card"/>
          <p:cNvSpPr/>
          <p:nvPr/>
        </p:nvSpPr>
        <p:spPr>
          <a:xfrm>
            <a:off x="580080" y="1700000"/>
            <a:ext cx="9570000" cy="2300000"/>
          </a:xfrm>
          <a:prstGeom prst="roundRect">
            <a:avLst>
              <a:gd name="adj" fmla="val 4000"/>
            </a:avLst>
          </a:prstGeom>
          <a:solidFill>
            <a:srgbClr val="EAF4EF"/>
          </a:solidFill>
          <a:ln/>
        </p:spPr>
      </p:sp>
      <p:graphicFrame>
        <p:nvGraphicFramePr>
          <p:cNvPr id="0" name="Table"/>
          <p:cNvGraphicFramePr>
            <a:graphicFrameLocks noGrp="1"/>
          </p:cNvGraphicFramePr>
          <p:nvPr/>
        </p:nvGraphicFramePr>
        <p:xfrm>
          <a:off x="640080" y="1760000"/>
          <a:ext cx="9450000" cy="1968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2100000"/>
                <a:gridCol w="950000"/>
                <a:gridCol w="950000"/>
                <a:gridCol w="1250000"/>
                <a:gridCol w="1250000"/>
                <a:gridCol w="1550000"/>
                <a:gridCol w="900000"/>
              </a:tblGrid>
              <a:tr h="3680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Rank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Player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Runs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Balls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Strike Rate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Batting Avg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Recent Runs (L5)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BSI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Josh Philippe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612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498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122.9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51.0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187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B6E4F"/>
                          </a:solidFill>
                          <a:latin typeface="Calibri" pitchFamily="34" charset="0"/>
                        </a:rPr>
                        <a:t>87.02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Jake Fraser-McGurk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498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344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144.8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38.3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142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B6E4F"/>
                          </a:solidFill>
                          <a:latin typeface="Calibri" pitchFamily="34" charset="0"/>
                        </a:rPr>
                        <a:t>52.72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Ollie Davies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456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401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113.7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34.2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118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B6E4F"/>
                          </a:solidFill>
                          <a:latin typeface="Calibri" pitchFamily="34" charset="0"/>
                        </a:rPr>
                        <a:t>43.59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Nathan McSweeney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402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389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103.3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33.5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96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B6E4F"/>
                          </a:solidFill>
                          <a:latin typeface="Calibri" pitchFamily="34" charset="0"/>
                        </a:rPr>
                        <a:t>39.84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Jake Weatherald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378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362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104.4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29.1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74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B6E4F"/>
                          </a:solidFill>
                          <a:latin typeface="Calibri" pitchFamily="34" charset="0"/>
                        </a:rPr>
                        <a:t>29.03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0" name="Card"/>
          <p:cNvSpPr/>
          <p:nvPr/>
        </p:nvSpPr>
        <p:spPr>
          <a:xfrm>
            <a:off x="640080" y="4160000"/>
            <a:ext cx="10910000" cy="620000"/>
          </a:xfrm>
          <a:prstGeom prst="roundRect">
            <a:avLst>
              <a:gd name="adj" fmla="val 7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880080" y="4290000"/>
            <a:ext cx="104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average and strike rate are normalised (min-max) and weighted 30% / 25%, with recent form, role fit and fielding contributing the remainder — see Code 5 (BSI / BoSI) for the exact formula.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Excel Analytics Dashboard — Workbook Extract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cel Evidenc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EXCEL WORKBOOK OUTPUT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105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2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BoSI Rankings — Workbook Extract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00000"/>
            <a:ext cx="108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file: Grow_Sports_Analytics.xlsx   |   Sheet: BoSI Rankings   |   Produced by Code 6 (Rankings &amp; Excel Output)</a:t>
            </a:r>
          </a:p>
        </p:txBody>
      </p:sp>
      <p:sp>
        <p:nvSpPr>
          <p:cNvPr id="0" name="Card"/>
          <p:cNvSpPr/>
          <p:nvPr/>
        </p:nvSpPr>
        <p:spPr>
          <a:xfrm>
            <a:off x="580080" y="1700000"/>
            <a:ext cx="9270000" cy="2300000"/>
          </a:xfrm>
          <a:prstGeom prst="roundRect">
            <a:avLst>
              <a:gd name="adj" fmla="val 4000"/>
            </a:avLst>
          </a:prstGeom>
          <a:solidFill>
            <a:srgbClr val="EAF4EF"/>
          </a:solidFill>
          <a:ln/>
        </p:spPr>
      </p:sp>
      <p:graphicFrame>
        <p:nvGraphicFramePr>
          <p:cNvPr id="0" name="Table"/>
          <p:cNvGraphicFramePr>
            <a:graphicFrameLocks noGrp="1"/>
          </p:cNvGraphicFramePr>
          <p:nvPr/>
        </p:nvGraphicFramePr>
        <p:xfrm>
          <a:off x="640080" y="1760000"/>
          <a:ext cx="9150000" cy="1968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2100000"/>
                <a:gridCol w="1000000"/>
                <a:gridCol w="950000"/>
                <a:gridCol w="1450000"/>
                <a:gridCol w="1000000"/>
                <a:gridCol w="1250000"/>
                <a:gridCol w="900000"/>
              </a:tblGrid>
              <a:tr h="3680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Rank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Player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Wickets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Overs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Runs Conceded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Economy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Bowling Avg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C72C"/>
                          </a:solidFill>
                          <a:latin typeface="Calibri" pitchFamily="34" charset="0"/>
                        </a:rPr>
                        <a:t>BoSI</a:t>
                      </a:r>
                    </a:p>
                  </a:txBody>
                  <a:tcPr marL="68580" marR="68580" marT="34290" marB="34290" anchor="ctr">
                    <a:solidFill>
                      <a:srgbClr val="073B29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Lance Morris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24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78.4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512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6.53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21.3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B6E4F"/>
                          </a:solidFill>
                          <a:latin typeface="Calibri" pitchFamily="34" charset="0"/>
                        </a:rPr>
                        <a:t>92.38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Fergus O'Neill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22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86.2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498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5.78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22.6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B6E4F"/>
                          </a:solidFill>
                          <a:latin typeface="Calibri" pitchFamily="34" charset="0"/>
                        </a:rPr>
                        <a:t>74.12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Xavier Bartlett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19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74.0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481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6.50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25.3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B6E4F"/>
                          </a:solidFill>
                          <a:latin typeface="Calibri" pitchFamily="34" charset="0"/>
                        </a:rPr>
                        <a:t>51.99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Spencer Johnson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18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69.5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476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6.85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26.4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B6E4F"/>
                          </a:solidFill>
                          <a:latin typeface="Calibri" pitchFamily="34" charset="0"/>
                        </a:rPr>
                        <a:t>44.22</a:t>
                      </a:r>
                    </a:p>
                  </a:txBody>
                  <a:tcPr marL="68580" marR="68580" marT="34290" marB="34290" anchor="ctr">
                    <a:solidFill>
                      <a:srgbClr val="EAF4E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Brendan Doggett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15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71.3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498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6.98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3233B"/>
                          </a:solidFill>
                          <a:latin typeface="Calibri" pitchFamily="34" charset="0"/>
                        </a:rPr>
                        <a:t>33.2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0B6E4F"/>
                          </a:solidFill>
                          <a:latin typeface="Calibri" pitchFamily="34" charset="0"/>
                        </a:rPr>
                        <a:t>36.03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0" name="Card"/>
          <p:cNvSpPr/>
          <p:nvPr/>
        </p:nvSpPr>
        <p:spPr>
          <a:xfrm>
            <a:off x="640080" y="4160000"/>
            <a:ext cx="10910000" cy="620000"/>
          </a:xfrm>
          <a:prstGeom prst="roundRect">
            <a:avLst>
              <a:gd name="adj" fmla="val 7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880080" y="4290000"/>
            <a:ext cx="104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average, economy and strike rate are lower-is-better metrics, so their normalised scores are reversed (1 - minmax) before weighting — see Code 5 (BSI / BoSI) for the exact formula.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Excel Analytics Dashboard — Workbook Extract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thodolog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10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EVIDENCE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108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2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Qualification Criteria &amp; Cut-Off Rule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00000"/>
            <a:ext cx="108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1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shortlist of 10 was defined before any names were looked at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Selection Evidence — Extended Analysis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/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1820000"/>
            <a:ext cx="10910000" cy="900000"/>
          </a:xfrm>
          <a:prstGeom prst="roundRect">
            <a:avLst>
              <a:gd name="adj" fmla="val 7000"/>
            </a:avLst>
          </a:prstGeom>
          <a:solidFill>
            <a:srgbClr val="EAF4EF"/>
          </a:solidFill>
          <a:ln/>
        </p:spPr>
      </p:sp>
      <p:sp>
        <p:nvSpPr>
          <p:cNvPr id="0" name="Card"/>
          <p:cNvSpPr/>
          <p:nvPr/>
        </p:nvSpPr>
        <p:spPr>
          <a:xfrm>
            <a:off x="720000" y="1970000"/>
            <a:ext cx="600000" cy="600000"/>
          </a:xfrm>
          <a:prstGeom prst="roundRect">
            <a:avLst>
              <a:gd name="adj" fmla="val 50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720000" y="1970000"/>
            <a:ext cx="6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/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</a:p>
        </p:txBody>
      </p:sp>
      <p:sp>
        <p:nvSpPr>
          <p:cNvPr id="0" name="T"/>
          <p:cNvSpPr/>
          <p:nvPr/>
        </p:nvSpPr>
        <p:spPr>
          <a:xfrm>
            <a:off x="1500000" y="1930000"/>
            <a:ext cx="98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2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Eligibility filter</a:t>
            </a:r>
          </a:p>
        </p:txBody>
      </p:sp>
      <p:sp>
        <p:nvSpPr>
          <p:cNvPr id="0" name="T"/>
          <p:cNvSpPr/>
          <p:nvPr/>
        </p:nvSpPr>
        <p:spPr>
          <a:xfrm>
            <a:off x="1500000" y="2250000"/>
            <a:ext cx="98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4999"/>
              </a:lnSpc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players with a minimum sample size qualify — at least 8 innings faced (batters) or 60 legal balls bowled (bowlers) across 2020/21-2025/26. This removes small-sample noise before any ranking happens.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2830000"/>
            <a:ext cx="10910000" cy="900000"/>
          </a:xfrm>
          <a:prstGeom prst="roundRect">
            <a:avLst>
              <a:gd name="adj" fmla="val 7000"/>
            </a:avLst>
          </a:prstGeom>
          <a:solidFill>
            <a:srgbClr val="EAF4EF"/>
          </a:solidFill>
          <a:ln/>
        </p:spPr>
      </p:sp>
      <p:sp>
        <p:nvSpPr>
          <p:cNvPr id="0" name="Card"/>
          <p:cNvSpPr/>
          <p:nvPr/>
        </p:nvSpPr>
        <p:spPr>
          <a:xfrm>
            <a:off x="720000" y="2980000"/>
            <a:ext cx="600000" cy="600000"/>
          </a:xfrm>
          <a:prstGeom prst="roundRect">
            <a:avLst>
              <a:gd name="adj" fmla="val 50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720000" y="2980000"/>
            <a:ext cx="6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/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</a:p>
        </p:txBody>
      </p:sp>
      <p:sp>
        <p:nvSpPr>
          <p:cNvPr id="0" name="T"/>
          <p:cNvSpPr/>
          <p:nvPr/>
        </p:nvSpPr>
        <p:spPr>
          <a:xfrm>
            <a:off x="1500000" y="2940000"/>
            <a:ext cx="98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2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scoring</a:t>
            </a:r>
          </a:p>
        </p:txBody>
      </p:sp>
      <p:sp>
        <p:nvSpPr>
          <p:cNvPr id="0" name="T"/>
          <p:cNvSpPr/>
          <p:nvPr/>
        </p:nvSpPr>
        <p:spPr>
          <a:xfrm>
            <a:off x="1500000" y="3260000"/>
            <a:ext cx="98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4999"/>
              </a:lnSpc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qualifying player is scored on BSI or BoSI - a weighted blend of average, strike rate / economy, recent form, role fit and fielding (see Code 5). No player is ranked on a single stat.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3840000"/>
            <a:ext cx="10910000" cy="900000"/>
          </a:xfrm>
          <a:prstGeom prst="roundRect">
            <a:avLst>
              <a:gd name="adj" fmla="val 7000"/>
            </a:avLst>
          </a:prstGeom>
          <a:solidFill>
            <a:srgbClr val="EAF4EF"/>
          </a:solidFill>
          <a:ln/>
        </p:spPr>
      </p:sp>
      <p:sp>
        <p:nvSpPr>
          <p:cNvPr id="0" name="Card"/>
          <p:cNvSpPr/>
          <p:nvPr/>
        </p:nvSpPr>
        <p:spPr>
          <a:xfrm>
            <a:off x="720000" y="3990000"/>
            <a:ext cx="600000" cy="600000"/>
          </a:xfrm>
          <a:prstGeom prst="roundRect">
            <a:avLst>
              <a:gd name="adj" fmla="val 50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720000" y="3990000"/>
            <a:ext cx="6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/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</a:p>
        </p:txBody>
      </p:sp>
      <p:sp>
        <p:nvSpPr>
          <p:cNvPr id="0" name="T"/>
          <p:cNvSpPr/>
          <p:nvPr/>
        </p:nvSpPr>
        <p:spPr>
          <a:xfrm>
            <a:off x="1500000" y="3950000"/>
            <a:ext cx="98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2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within discipline</a:t>
            </a:r>
          </a:p>
        </p:txBody>
      </p:sp>
      <p:sp>
        <p:nvSpPr>
          <p:cNvPr id="0" name="T"/>
          <p:cNvSpPr/>
          <p:nvPr/>
        </p:nvSpPr>
        <p:spPr>
          <a:xfrm>
            <a:off x="1500000" y="4270000"/>
            <a:ext cx="98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4999"/>
              </a:lnSpc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Batters and fast bowlers are ranked separately on their composite score, highest to lowest, producing one ordered list per discipline.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4850000"/>
            <a:ext cx="10910000" cy="900000"/>
          </a:xfrm>
          <a:prstGeom prst="roundRect">
            <a:avLst>
              <a:gd name="adj" fmla="val 7000"/>
            </a:avLst>
          </a:prstGeom>
          <a:solidFill>
            <a:srgbClr val="EAF4EF"/>
          </a:solidFill>
          <a:ln/>
        </p:spPr>
      </p:sp>
      <p:sp>
        <p:nvSpPr>
          <p:cNvPr id="0" name="Card"/>
          <p:cNvSpPr/>
          <p:nvPr/>
        </p:nvSpPr>
        <p:spPr>
          <a:xfrm>
            <a:off x="720000" y="5000000"/>
            <a:ext cx="600000" cy="600000"/>
          </a:xfrm>
          <a:prstGeom prst="roundRect">
            <a:avLst>
              <a:gd name="adj" fmla="val 50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720000" y="5000000"/>
            <a:ext cx="6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/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</a:p>
        </p:txBody>
      </p:sp>
      <p:sp>
        <p:nvSpPr>
          <p:cNvPr id="0" name="T"/>
          <p:cNvSpPr/>
          <p:nvPr/>
        </p:nvSpPr>
        <p:spPr>
          <a:xfrm>
            <a:off x="1500000" y="4960000"/>
            <a:ext cx="98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2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cut-off</a:t>
            </a:r>
          </a:p>
        </p:txBody>
      </p:sp>
      <p:sp>
        <p:nvSpPr>
          <p:cNvPr id="0" name="T"/>
          <p:cNvSpPr/>
          <p:nvPr/>
        </p:nvSpPr>
        <p:spPr>
          <a:xfrm>
            <a:off x="1500000" y="5280000"/>
            <a:ext cx="98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lnSpc>
                <a:spcPct val="114999"/>
              </a:lnSpc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in each list are shortlisted - the cut-off sits where a natural score gap opens after rank 5, not at an arbitrary round number (see the Extended Candidate Pool, next two slides).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tended Candidate Pool — Batt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10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EVIDENCE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108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2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Candidate Pool — Batting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00000"/>
            <a:ext cx="108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1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qualifying candidates ranked by BSI - top 5 (gold) vs. next best contenders (grey)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Selection Evidence — Extended Analysis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/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</a:p>
        </p:txBody>
      </p:sp>
      <p:sp>
        <p:nvSpPr>
          <p:cNvPr id="0" name="T"/>
          <p:cNvSpPr/>
          <p:nvPr/>
        </p:nvSpPr>
        <p:spPr>
          <a:xfrm>
            <a:off x="640080" y="185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0" name="T"/>
          <p:cNvSpPr/>
          <p:nvPr/>
        </p:nvSpPr>
        <p:spPr>
          <a:xfrm>
            <a:off x="1150000" y="185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Philippe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1910000"/>
            <a:ext cx="7200000" cy="2600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10690000" y="185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87.02</a:t>
            </a:r>
          </a:p>
        </p:txBody>
      </p:sp>
      <p:sp>
        <p:nvSpPr>
          <p:cNvPr id="0" name="T"/>
          <p:cNvSpPr/>
          <p:nvPr/>
        </p:nvSpPr>
        <p:spPr>
          <a:xfrm>
            <a:off x="640080" y="226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0" name="T"/>
          <p:cNvSpPr/>
          <p:nvPr/>
        </p:nvSpPr>
        <p:spPr>
          <a:xfrm>
            <a:off x="1150000" y="226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 Fraser-McGurk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2320000"/>
            <a:ext cx="4362031" cy="2600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7852031" y="226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52.72</a:t>
            </a:r>
          </a:p>
        </p:txBody>
      </p:sp>
      <p:sp>
        <p:nvSpPr>
          <p:cNvPr id="0" name="T"/>
          <p:cNvSpPr/>
          <p:nvPr/>
        </p:nvSpPr>
        <p:spPr>
          <a:xfrm>
            <a:off x="640080" y="267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0" name="T"/>
          <p:cNvSpPr/>
          <p:nvPr/>
        </p:nvSpPr>
        <p:spPr>
          <a:xfrm>
            <a:off x="1150000" y="267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Ollie Davies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2730000"/>
            <a:ext cx="3606619" cy="2600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7096619" y="267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43.59</a:t>
            </a:r>
          </a:p>
        </p:txBody>
      </p:sp>
      <p:sp>
        <p:nvSpPr>
          <p:cNvPr id="0" name="T"/>
          <p:cNvSpPr/>
          <p:nvPr/>
        </p:nvSpPr>
        <p:spPr>
          <a:xfrm>
            <a:off x="640080" y="308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0" name="T"/>
          <p:cNvSpPr/>
          <p:nvPr/>
        </p:nvSpPr>
        <p:spPr>
          <a:xfrm>
            <a:off x="1150000" y="308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 McSweeney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3140000"/>
            <a:ext cx="3296345" cy="2600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6786345" y="308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39.84</a:t>
            </a:r>
          </a:p>
        </p:txBody>
      </p:sp>
      <p:sp>
        <p:nvSpPr>
          <p:cNvPr id="0" name="T"/>
          <p:cNvSpPr/>
          <p:nvPr/>
        </p:nvSpPr>
        <p:spPr>
          <a:xfrm>
            <a:off x="640080" y="349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0" name="T"/>
          <p:cNvSpPr/>
          <p:nvPr/>
        </p:nvSpPr>
        <p:spPr>
          <a:xfrm>
            <a:off x="1150000" y="349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 Weatherald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3550000"/>
            <a:ext cx="2401930" cy="2600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5891930" y="349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29.03</a:t>
            </a:r>
          </a:p>
        </p:txBody>
      </p:sp>
      <p:cxnSp>
        <p:nvCxnSpPr>
          <p:cNvPr id="0" name="cutoff"/>
          <p:cNvCxnSpPr/>
          <p:nvPr/>
        </p:nvCxnSpPr>
        <p:spPr>
          <a:xfrm>
            <a:off x="3280000" y="1810000"/>
            <a:ext cx="0" cy="2240000"/>
          </a:xfrm>
          <a:prstGeom prst="line">
            <a:avLst/>
          </a:prstGeom>
          <a:ln w="19050">
            <a:solidFill>
              <a:srgbClr val="073B29"/>
            </a:solidFill>
            <a:prstDash val="dash"/>
          </a:ln>
        </p:spPr>
      </p:cxnSp>
      <p:sp>
        <p:nvSpPr>
          <p:cNvPr id="0" name="T"/>
          <p:cNvSpPr/>
          <p:nvPr/>
        </p:nvSpPr>
        <p:spPr>
          <a:xfrm>
            <a:off x="640080" y="412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0" name="T"/>
          <p:cNvSpPr/>
          <p:nvPr/>
        </p:nvSpPr>
        <p:spPr>
          <a:xfrm>
            <a:off x="1150000" y="412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Hunt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4180000"/>
            <a:ext cx="1770627" cy="260000"/>
          </a:xfrm>
          <a:prstGeom prst="roundRect">
            <a:avLst>
              <a:gd name="adj" fmla="val 25000"/>
            </a:avLst>
          </a:prstGeom>
          <a:solidFill>
            <a:srgbClr val="C7D0C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5260627" y="412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21.40</a:t>
            </a:r>
          </a:p>
        </p:txBody>
      </p:sp>
      <p:sp>
        <p:nvSpPr>
          <p:cNvPr id="0" name="T"/>
          <p:cNvSpPr/>
          <p:nvPr/>
        </p:nvSpPr>
        <p:spPr>
          <a:xfrm>
            <a:off x="640080" y="453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0" name="T"/>
          <p:cNvSpPr/>
          <p:nvPr/>
        </p:nvSpPr>
        <p:spPr>
          <a:xfrm>
            <a:off x="1150000" y="453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Konstas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4590000"/>
            <a:ext cx="1638244" cy="260000"/>
          </a:xfrm>
          <a:prstGeom prst="roundRect">
            <a:avLst>
              <a:gd name="adj" fmla="val 25000"/>
            </a:avLst>
          </a:prstGeom>
          <a:solidFill>
            <a:srgbClr val="C7D0C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5128244" y="453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19.80</a:t>
            </a:r>
          </a:p>
        </p:txBody>
      </p:sp>
      <p:sp>
        <p:nvSpPr>
          <p:cNvPr id="0" name="T"/>
          <p:cNvSpPr/>
          <p:nvPr/>
        </p:nvSpPr>
        <p:spPr>
          <a:xfrm>
            <a:off x="640080" y="494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  <p:sp>
        <p:nvSpPr>
          <p:cNvPr id="0" name="T"/>
          <p:cNvSpPr/>
          <p:nvPr/>
        </p:nvSpPr>
        <p:spPr>
          <a:xfrm>
            <a:off x="1150000" y="494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Sangha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5000000"/>
            <a:ext cx="1538956" cy="260000"/>
          </a:xfrm>
          <a:prstGeom prst="roundRect">
            <a:avLst>
              <a:gd name="adj" fmla="val 25000"/>
            </a:avLst>
          </a:prstGeom>
          <a:solidFill>
            <a:srgbClr val="C7D0C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5028956" y="494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18.60</a:t>
            </a:r>
          </a:p>
        </p:txBody>
      </p:sp>
      <p:sp>
        <p:nvSpPr>
          <p:cNvPr id="0" name="T"/>
          <p:cNvSpPr/>
          <p:nvPr/>
        </p:nvSpPr>
        <p:spPr>
          <a:xfrm>
            <a:off x="640080" y="535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</a:p>
        </p:txBody>
      </p:sp>
      <p:sp>
        <p:nvSpPr>
          <p:cNvPr id="0" name="T"/>
          <p:cNvSpPr/>
          <p:nvPr/>
        </p:nvSpPr>
        <p:spPr>
          <a:xfrm>
            <a:off x="1150000" y="535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Brown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5410000"/>
            <a:ext cx="1423121" cy="260000"/>
          </a:xfrm>
          <a:prstGeom prst="roundRect">
            <a:avLst>
              <a:gd name="adj" fmla="val 25000"/>
            </a:avLst>
          </a:prstGeom>
          <a:solidFill>
            <a:srgbClr val="C7D0C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4913121" y="535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17.20</a:t>
            </a:r>
          </a:p>
        </p:txBody>
      </p:sp>
      <p:sp>
        <p:nvSpPr>
          <p:cNvPr id="0" name="T"/>
          <p:cNvSpPr/>
          <p:nvPr/>
        </p:nvSpPr>
        <p:spPr>
          <a:xfrm>
            <a:off x="640080" y="576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</a:p>
        </p:txBody>
      </p:sp>
      <p:sp>
        <p:nvSpPr>
          <p:cNvPr id="0" name="T"/>
          <p:cNvSpPr/>
          <p:nvPr/>
        </p:nvSpPr>
        <p:spPr>
          <a:xfrm>
            <a:off x="1150000" y="576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Caleb Jewell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5820000"/>
            <a:ext cx="1315559" cy="260000"/>
          </a:xfrm>
          <a:prstGeom prst="roundRect">
            <a:avLst>
              <a:gd name="adj" fmla="val 25000"/>
            </a:avLst>
          </a:prstGeom>
          <a:solidFill>
            <a:srgbClr val="C7D0C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4805559" y="576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15.90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6230000"/>
            <a:ext cx="10910000" cy="620000"/>
          </a:xfrm>
          <a:prstGeom prst="roundRect">
            <a:avLst>
              <a:gd name="adj" fmla="val 7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880080" y="6350000"/>
            <a:ext cx="104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0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gap after rank 5: 7.63 points - a clear, natural break separates the shortlisted five from the next-best contenders, not an arbitrary round-number cut-off.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tended Candidate Pool — Fast Bowl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10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EVIDENCE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108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2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Candidate Pool — Fast Bowling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00000"/>
            <a:ext cx="108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1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qualifying candidates ranked by BoSI - top 5 (gold) vs. next best contenders (grey)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Selection Evidence — Extended Analysis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/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</a:p>
        </p:txBody>
      </p:sp>
      <p:sp>
        <p:nvSpPr>
          <p:cNvPr id="0" name="T"/>
          <p:cNvSpPr/>
          <p:nvPr/>
        </p:nvSpPr>
        <p:spPr>
          <a:xfrm>
            <a:off x="640080" y="185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0" name="T"/>
          <p:cNvSpPr/>
          <p:nvPr/>
        </p:nvSpPr>
        <p:spPr>
          <a:xfrm>
            <a:off x="1150000" y="185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Morris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1910000"/>
            <a:ext cx="7200000" cy="2600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10690000" y="185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92.38</a:t>
            </a:r>
          </a:p>
        </p:txBody>
      </p:sp>
      <p:sp>
        <p:nvSpPr>
          <p:cNvPr id="0" name="T"/>
          <p:cNvSpPr/>
          <p:nvPr/>
        </p:nvSpPr>
        <p:spPr>
          <a:xfrm>
            <a:off x="640080" y="226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0" name="T"/>
          <p:cNvSpPr/>
          <p:nvPr/>
        </p:nvSpPr>
        <p:spPr>
          <a:xfrm>
            <a:off x="1150000" y="226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Fergus O'Neill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2320000"/>
            <a:ext cx="5776834" cy="2600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9266834" y="226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74.12</a:t>
            </a:r>
          </a:p>
        </p:txBody>
      </p:sp>
      <p:sp>
        <p:nvSpPr>
          <p:cNvPr id="0" name="T"/>
          <p:cNvSpPr/>
          <p:nvPr/>
        </p:nvSpPr>
        <p:spPr>
          <a:xfrm>
            <a:off x="640080" y="267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0" name="T"/>
          <p:cNvSpPr/>
          <p:nvPr/>
        </p:nvSpPr>
        <p:spPr>
          <a:xfrm>
            <a:off x="1150000" y="267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Bartlett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2730000"/>
            <a:ext cx="4052045" cy="2600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7542045" y="267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51.99</a:t>
            </a:r>
          </a:p>
        </p:txBody>
      </p:sp>
      <p:sp>
        <p:nvSpPr>
          <p:cNvPr id="0" name="T"/>
          <p:cNvSpPr/>
          <p:nvPr/>
        </p:nvSpPr>
        <p:spPr>
          <a:xfrm>
            <a:off x="640080" y="308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0" name="T"/>
          <p:cNvSpPr/>
          <p:nvPr/>
        </p:nvSpPr>
        <p:spPr>
          <a:xfrm>
            <a:off x="1150000" y="308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Spencer Johnson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3140000"/>
            <a:ext cx="3446460" cy="2600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6936460" y="308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44.22</a:t>
            </a:r>
          </a:p>
        </p:txBody>
      </p:sp>
      <p:sp>
        <p:nvSpPr>
          <p:cNvPr id="0" name="T"/>
          <p:cNvSpPr/>
          <p:nvPr/>
        </p:nvSpPr>
        <p:spPr>
          <a:xfrm>
            <a:off x="640080" y="349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0" name="T"/>
          <p:cNvSpPr/>
          <p:nvPr/>
        </p:nvSpPr>
        <p:spPr>
          <a:xfrm>
            <a:off x="1150000" y="349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Brendan Doggett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3550000"/>
            <a:ext cx="2808140" cy="260000"/>
          </a:xfrm>
          <a:prstGeom prst="roundRect">
            <a:avLst>
              <a:gd name="adj" fmla="val 25000"/>
            </a:avLst>
          </a:prstGeom>
          <a:solidFill>
            <a:srgbClr val="FFC72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6298140" y="349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36.03</a:t>
            </a:r>
          </a:p>
        </p:txBody>
      </p:sp>
      <p:cxnSp>
        <p:nvCxnSpPr>
          <p:cNvPr id="0" name="cutoff"/>
          <p:cNvCxnSpPr/>
          <p:nvPr/>
        </p:nvCxnSpPr>
        <p:spPr>
          <a:xfrm>
            <a:off x="3280000" y="1810000"/>
            <a:ext cx="0" cy="2240000"/>
          </a:xfrm>
          <a:prstGeom prst="line">
            <a:avLst/>
          </a:prstGeom>
          <a:ln w="19050">
            <a:solidFill>
              <a:srgbClr val="073B29"/>
            </a:solidFill>
            <a:prstDash val="dash"/>
          </a:ln>
        </p:spPr>
      </p:cxnSp>
      <p:sp>
        <p:nvSpPr>
          <p:cNvPr id="0" name="T"/>
          <p:cNvSpPr/>
          <p:nvPr/>
        </p:nvSpPr>
        <p:spPr>
          <a:xfrm>
            <a:off x="640080" y="412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0" name="T"/>
          <p:cNvSpPr/>
          <p:nvPr/>
        </p:nvSpPr>
        <p:spPr>
          <a:xfrm>
            <a:off x="1150000" y="412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Neser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4180000"/>
            <a:ext cx="2166702" cy="260000"/>
          </a:xfrm>
          <a:prstGeom prst="roundRect">
            <a:avLst>
              <a:gd name="adj" fmla="val 25000"/>
            </a:avLst>
          </a:prstGeom>
          <a:solidFill>
            <a:srgbClr val="C7D0C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5656702" y="412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27.80</a:t>
            </a:r>
          </a:p>
        </p:txBody>
      </p:sp>
      <p:sp>
        <p:nvSpPr>
          <p:cNvPr id="0" name="T"/>
          <p:cNvSpPr/>
          <p:nvPr/>
        </p:nvSpPr>
        <p:spPr>
          <a:xfrm>
            <a:off x="640080" y="453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0" name="T"/>
          <p:cNvSpPr/>
          <p:nvPr/>
        </p:nvSpPr>
        <p:spPr>
          <a:xfrm>
            <a:off x="1150000" y="453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 Agar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4590000"/>
            <a:ext cx="1956267" cy="260000"/>
          </a:xfrm>
          <a:prstGeom prst="roundRect">
            <a:avLst>
              <a:gd name="adj" fmla="val 25000"/>
            </a:avLst>
          </a:prstGeom>
          <a:solidFill>
            <a:srgbClr val="C7D0C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5446267" y="453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25.10</a:t>
            </a:r>
          </a:p>
        </p:txBody>
      </p:sp>
      <p:sp>
        <p:nvSpPr>
          <p:cNvPr id="0" name="T"/>
          <p:cNvSpPr/>
          <p:nvPr/>
        </p:nvSpPr>
        <p:spPr>
          <a:xfrm>
            <a:off x="640080" y="494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  <p:sp>
        <p:nvSpPr>
          <p:cNvPr id="0" name="T"/>
          <p:cNvSpPr/>
          <p:nvPr/>
        </p:nvSpPr>
        <p:spPr>
          <a:xfrm>
            <a:off x="1150000" y="494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Meredith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5000000"/>
            <a:ext cx="1823771" cy="260000"/>
          </a:xfrm>
          <a:prstGeom prst="roundRect">
            <a:avLst>
              <a:gd name="adj" fmla="val 25000"/>
            </a:avLst>
          </a:prstGeom>
          <a:solidFill>
            <a:srgbClr val="C7D0C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5313771" y="494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23.40</a:t>
            </a:r>
          </a:p>
        </p:txBody>
      </p:sp>
      <p:sp>
        <p:nvSpPr>
          <p:cNvPr id="0" name="T"/>
          <p:cNvSpPr/>
          <p:nvPr/>
        </p:nvSpPr>
        <p:spPr>
          <a:xfrm>
            <a:off x="640080" y="535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</a:p>
        </p:txBody>
      </p:sp>
      <p:sp>
        <p:nvSpPr>
          <p:cNvPr id="0" name="T"/>
          <p:cNvSpPr/>
          <p:nvPr/>
        </p:nvSpPr>
        <p:spPr>
          <a:xfrm>
            <a:off x="1150000" y="535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Paris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5410000"/>
            <a:ext cx="1691275" cy="260000"/>
          </a:xfrm>
          <a:prstGeom prst="roundRect">
            <a:avLst>
              <a:gd name="adj" fmla="val 25000"/>
            </a:avLst>
          </a:prstGeom>
          <a:solidFill>
            <a:srgbClr val="C7D0C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5181275" y="535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21.70</a:t>
            </a:r>
          </a:p>
        </p:txBody>
      </p:sp>
      <p:sp>
        <p:nvSpPr>
          <p:cNvPr id="0" name="T"/>
          <p:cNvSpPr/>
          <p:nvPr/>
        </p:nvSpPr>
        <p:spPr>
          <a:xfrm>
            <a:off x="640080" y="576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</a:p>
        </p:txBody>
      </p:sp>
      <p:sp>
        <p:nvSpPr>
          <p:cNvPr id="0" name="T"/>
          <p:cNvSpPr/>
          <p:nvPr/>
        </p:nvSpPr>
        <p:spPr>
          <a:xfrm>
            <a:off x="1150000" y="5760000"/>
            <a:ext cx="2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Jhye Richardson</a:t>
            </a:r>
          </a:p>
        </p:txBody>
      </p:sp>
      <p:sp>
        <p:nvSpPr>
          <p:cNvPr id="0" name="Bar"/>
          <p:cNvSpPr/>
          <p:nvPr/>
        </p:nvSpPr>
        <p:spPr>
          <a:xfrm>
            <a:off x="3400000" y="5820000"/>
            <a:ext cx="1550985" cy="260000"/>
          </a:xfrm>
          <a:prstGeom prst="roundRect">
            <a:avLst>
              <a:gd name="adj" fmla="val 25000"/>
            </a:avLst>
          </a:prstGeom>
          <a:solidFill>
            <a:srgbClr val="C7D0C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5040985" y="576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19.90</a:t>
            </a:r>
          </a:p>
        </p:txBody>
      </p:sp>
      <p:sp>
        <p:nvSpPr>
          <p:cNvPr id="0" name="Card"/>
          <p:cNvSpPr/>
          <p:nvPr/>
        </p:nvSpPr>
        <p:spPr>
          <a:xfrm>
            <a:off x="640080" y="6230000"/>
            <a:ext cx="10910000" cy="620000"/>
          </a:xfrm>
          <a:prstGeom prst="roundRect">
            <a:avLst>
              <a:gd name="adj" fmla="val 7000"/>
            </a:avLst>
          </a:prstGeom>
          <a:solidFill>
            <a:srgbClr val="0B6E4F"/>
          </a:solidFill>
          <a:ln/>
        </p:spPr>
      </p:sp>
      <p:sp>
        <p:nvSpPr>
          <p:cNvPr id="0" name="T"/>
          <p:cNvSpPr/>
          <p:nvPr/>
        </p:nvSpPr>
        <p:spPr>
          <a:xfrm>
            <a:off x="880080" y="6350000"/>
            <a:ext cx="104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0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gap after rank 5: 8.23 points - a clear, natural break separates the shortlisted five from the next-best contenders, not an arbitrary round-number cut-off.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ore Breakdown — Selected Batter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10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EVIDENCE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108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2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Breakdown — Selected Batters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00000"/>
            <a:ext cx="108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1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decomposed into its weighted components - each selected player's own numbers, not a single blended score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Selection Evidence — Extended Analysis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/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</a:p>
        </p:txBody>
      </p:sp>
      <p:sp>
        <p:nvSpPr>
          <p:cNvPr id="0" name="T"/>
          <p:cNvSpPr/>
          <p:nvPr/>
        </p:nvSpPr>
        <p:spPr>
          <a:xfrm>
            <a:off x="640080" y="1900000"/>
            <a:ext cx="228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Philippe</a:t>
            </a:r>
          </a:p>
        </p:txBody>
      </p:sp>
      <p:sp>
        <p:nvSpPr>
          <p:cNvPr id="0" name="Bar"/>
          <p:cNvSpPr/>
          <p:nvPr/>
        </p:nvSpPr>
        <p:spPr>
          <a:xfrm>
            <a:off x="3050000" y="1990000"/>
            <a:ext cx="2419271" cy="440000"/>
          </a:xfrm>
          <a:prstGeom prst="rect">
            <a:avLst/>
          </a:prstGeom>
          <a:solidFill>
            <a:srgbClr val="073B29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5469271" y="1990000"/>
            <a:ext cx="1863364" cy="44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7332636" y="1990000"/>
            <a:ext cx="1578085" cy="440000"/>
          </a:xfrm>
          <a:prstGeom prst="rect">
            <a:avLst/>
          </a:prstGeom>
          <a:solidFill>
            <a:srgbClr val="3E9A72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8910721" y="1990000"/>
            <a:ext cx="1025626" cy="440000"/>
          </a:xfrm>
          <a:prstGeom prst="rect">
            <a:avLst/>
          </a:prstGeom>
          <a:solidFill>
            <a:srgbClr val="FFC72C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9936347" y="1990000"/>
            <a:ext cx="613652" cy="440000"/>
          </a:xfrm>
          <a:prstGeom prst="rect">
            <a:avLst/>
          </a:prstGeom>
          <a:solidFill>
            <a:srgbClr val="E8B923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10650000" y="1900000"/>
            <a:ext cx="8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25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87.02</a:t>
            </a:r>
          </a:p>
        </p:txBody>
      </p:sp>
      <p:sp>
        <p:nvSpPr>
          <p:cNvPr id="0" name="T"/>
          <p:cNvSpPr/>
          <p:nvPr/>
        </p:nvSpPr>
        <p:spPr>
          <a:xfrm>
            <a:off x="640080" y="2610000"/>
            <a:ext cx="228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 Fraser-McGurk</a:t>
            </a:r>
          </a:p>
        </p:txBody>
      </p:sp>
      <p:sp>
        <p:nvSpPr>
          <p:cNvPr id="0" name="Bar"/>
          <p:cNvSpPr/>
          <p:nvPr/>
        </p:nvSpPr>
        <p:spPr>
          <a:xfrm>
            <a:off x="3050000" y="2700000"/>
            <a:ext cx="991151" cy="440000"/>
          </a:xfrm>
          <a:prstGeom prst="rect">
            <a:avLst/>
          </a:prstGeom>
          <a:solidFill>
            <a:srgbClr val="073B29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4041151" y="2700000"/>
            <a:ext cx="1859055" cy="44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5900206" y="2700000"/>
            <a:ext cx="908411" cy="440000"/>
          </a:xfrm>
          <a:prstGeom prst="rect">
            <a:avLst/>
          </a:prstGeom>
          <a:solidFill>
            <a:srgbClr val="3E9A72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6808618" y="2700000"/>
            <a:ext cx="495575" cy="440000"/>
          </a:xfrm>
          <a:prstGeom prst="rect">
            <a:avLst/>
          </a:prstGeom>
          <a:solidFill>
            <a:srgbClr val="FFC72C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7304194" y="2700000"/>
            <a:ext cx="289588" cy="440000"/>
          </a:xfrm>
          <a:prstGeom prst="rect">
            <a:avLst/>
          </a:prstGeom>
          <a:solidFill>
            <a:srgbClr val="E8B923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7693783" y="2610000"/>
            <a:ext cx="8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25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52.72</a:t>
            </a:r>
          </a:p>
        </p:txBody>
      </p:sp>
      <p:sp>
        <p:nvSpPr>
          <p:cNvPr id="0" name="T"/>
          <p:cNvSpPr/>
          <p:nvPr/>
        </p:nvSpPr>
        <p:spPr>
          <a:xfrm>
            <a:off x="640080" y="3320000"/>
            <a:ext cx="228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Ollie Davies</a:t>
            </a:r>
          </a:p>
        </p:txBody>
      </p:sp>
      <p:sp>
        <p:nvSpPr>
          <p:cNvPr id="0" name="Bar"/>
          <p:cNvSpPr/>
          <p:nvPr/>
        </p:nvSpPr>
        <p:spPr>
          <a:xfrm>
            <a:off x="3050000" y="3410000"/>
            <a:ext cx="836876" cy="440000"/>
          </a:xfrm>
          <a:prstGeom prst="rect">
            <a:avLst/>
          </a:prstGeom>
          <a:solidFill>
            <a:srgbClr val="073B29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3886876" y="3410000"/>
            <a:ext cx="1271259" cy="44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5158136" y="3410000"/>
            <a:ext cx="820501" cy="440000"/>
          </a:xfrm>
          <a:prstGeom prst="rect">
            <a:avLst/>
          </a:prstGeom>
          <a:solidFill>
            <a:srgbClr val="3E9A72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5978637" y="3410000"/>
            <a:ext cx="517122" cy="440000"/>
          </a:xfrm>
          <a:prstGeom prst="rect">
            <a:avLst/>
          </a:prstGeom>
          <a:solidFill>
            <a:srgbClr val="FFC72C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6495759" y="3410000"/>
            <a:ext cx="311135" cy="440000"/>
          </a:xfrm>
          <a:prstGeom prst="rect">
            <a:avLst/>
          </a:prstGeom>
          <a:solidFill>
            <a:srgbClr val="E8B923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6906894" y="3320000"/>
            <a:ext cx="8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25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43.59</a:t>
            </a:r>
          </a:p>
        </p:txBody>
      </p:sp>
      <p:sp>
        <p:nvSpPr>
          <p:cNvPr id="0" name="T"/>
          <p:cNvSpPr/>
          <p:nvPr/>
        </p:nvSpPr>
        <p:spPr>
          <a:xfrm>
            <a:off x="640080" y="4030000"/>
            <a:ext cx="228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 McSweeney</a:t>
            </a:r>
          </a:p>
        </p:txBody>
      </p:sp>
      <p:sp>
        <p:nvSpPr>
          <p:cNvPr id="0" name="Bar"/>
          <p:cNvSpPr/>
          <p:nvPr/>
        </p:nvSpPr>
        <p:spPr>
          <a:xfrm>
            <a:off x="3050000" y="4120000"/>
            <a:ext cx="1079062" cy="440000"/>
          </a:xfrm>
          <a:prstGeom prst="rect">
            <a:avLst/>
          </a:prstGeom>
          <a:solidFill>
            <a:srgbClr val="073B29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4129062" y="4120000"/>
            <a:ext cx="799816" cy="44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4928878" y="4120000"/>
            <a:ext cx="559354" cy="440000"/>
          </a:xfrm>
          <a:prstGeom prst="rect">
            <a:avLst/>
          </a:prstGeom>
          <a:solidFill>
            <a:srgbClr val="3E9A72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5488232" y="4120000"/>
            <a:ext cx="659331" cy="440000"/>
          </a:xfrm>
          <a:prstGeom prst="rect">
            <a:avLst/>
          </a:prstGeom>
          <a:solidFill>
            <a:srgbClr val="FFC72C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6147563" y="4120000"/>
            <a:ext cx="336129" cy="440000"/>
          </a:xfrm>
          <a:prstGeom prst="rect">
            <a:avLst/>
          </a:prstGeom>
          <a:solidFill>
            <a:srgbClr val="E8B923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6583693" y="4030000"/>
            <a:ext cx="8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25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39.84</a:t>
            </a:r>
          </a:p>
        </p:txBody>
      </p:sp>
      <p:sp>
        <p:nvSpPr>
          <p:cNvPr id="0" name="T"/>
          <p:cNvSpPr/>
          <p:nvPr/>
        </p:nvSpPr>
        <p:spPr>
          <a:xfrm>
            <a:off x="640080" y="4740000"/>
            <a:ext cx="228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 Weatherald</a:t>
            </a:r>
          </a:p>
        </p:txBody>
      </p:sp>
      <p:sp>
        <p:nvSpPr>
          <p:cNvPr id="0" name="Bar"/>
          <p:cNvSpPr/>
          <p:nvPr/>
        </p:nvSpPr>
        <p:spPr>
          <a:xfrm>
            <a:off x="3050000" y="4830000"/>
            <a:ext cx="847219" cy="440000"/>
          </a:xfrm>
          <a:prstGeom prst="rect">
            <a:avLst/>
          </a:prstGeom>
          <a:solidFill>
            <a:srgbClr val="073B29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3897219" y="4830000"/>
            <a:ext cx="767065" cy="44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4664284" y="4830000"/>
            <a:ext cx="323201" cy="440000"/>
          </a:xfrm>
          <a:prstGeom prst="rect">
            <a:avLst/>
          </a:prstGeom>
          <a:solidFill>
            <a:srgbClr val="3E9A72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4987485" y="4830000"/>
            <a:ext cx="362847" cy="440000"/>
          </a:xfrm>
          <a:prstGeom prst="rect">
            <a:avLst/>
          </a:prstGeom>
          <a:solidFill>
            <a:srgbClr val="FFC72C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5350333" y="4830000"/>
            <a:ext cx="201677" cy="440000"/>
          </a:xfrm>
          <a:prstGeom prst="rect">
            <a:avLst/>
          </a:prstGeom>
          <a:solidFill>
            <a:srgbClr val="E8B923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5652011" y="4740000"/>
            <a:ext cx="8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25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29.03</a:t>
            </a:r>
          </a:p>
        </p:txBody>
      </p:sp>
      <p:sp>
        <p:nvSpPr>
          <p:cNvPr id="0" name="Bar"/>
          <p:cNvSpPr/>
          <p:nvPr/>
        </p:nvSpPr>
        <p:spPr>
          <a:xfrm>
            <a:off x="3050000" y="5610000"/>
            <a:ext cx="220000" cy="220000"/>
          </a:xfrm>
          <a:prstGeom prst="roundRect">
            <a:avLst>
              <a:gd name="adj" fmla="val 30000"/>
            </a:avLst>
          </a:prstGeom>
          <a:solidFill>
            <a:srgbClr val="073B29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3350000" y="5570000"/>
            <a:ext cx="16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9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</a:p>
        </p:txBody>
      </p:sp>
      <p:sp>
        <p:nvSpPr>
          <p:cNvPr id="0" name="Bar"/>
          <p:cNvSpPr/>
          <p:nvPr/>
        </p:nvSpPr>
        <p:spPr>
          <a:xfrm>
            <a:off x="4950000" y="5610000"/>
            <a:ext cx="220000" cy="220000"/>
          </a:xfrm>
          <a:prstGeom prst="roundRect">
            <a:avLst>
              <a:gd name="adj" fmla="val 30000"/>
            </a:avLst>
          </a:prstGeom>
          <a:solidFill>
            <a:srgbClr val="0B6E4F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5250000" y="5570000"/>
            <a:ext cx="16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9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Rate</a:t>
            </a:r>
          </a:p>
        </p:txBody>
      </p:sp>
      <p:sp>
        <p:nvSpPr>
          <p:cNvPr id="0" name="Bar"/>
          <p:cNvSpPr/>
          <p:nvPr/>
        </p:nvSpPr>
        <p:spPr>
          <a:xfrm>
            <a:off x="6850000" y="5610000"/>
            <a:ext cx="220000" cy="220000"/>
          </a:xfrm>
          <a:prstGeom prst="roundRect">
            <a:avLst>
              <a:gd name="adj" fmla="val 30000"/>
            </a:avLst>
          </a:prstGeom>
          <a:solidFill>
            <a:srgbClr val="3E9A72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7150000" y="5570000"/>
            <a:ext cx="16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9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Form</a:t>
            </a:r>
          </a:p>
        </p:txBody>
      </p:sp>
      <p:sp>
        <p:nvSpPr>
          <p:cNvPr id="0" name="Bar"/>
          <p:cNvSpPr/>
          <p:nvPr/>
        </p:nvSpPr>
        <p:spPr>
          <a:xfrm>
            <a:off x="8750000" y="5610000"/>
            <a:ext cx="220000" cy="220000"/>
          </a:xfrm>
          <a:prstGeom prst="roundRect">
            <a:avLst>
              <a:gd name="adj" fmla="val 30000"/>
            </a:avLst>
          </a:prstGeom>
          <a:solidFill>
            <a:srgbClr val="FFC72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9050000" y="5570000"/>
            <a:ext cx="16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9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</a:p>
        </p:txBody>
      </p:sp>
      <p:sp>
        <p:nvSpPr>
          <p:cNvPr id="0" name="Bar"/>
          <p:cNvSpPr/>
          <p:nvPr/>
        </p:nvSpPr>
        <p:spPr>
          <a:xfrm>
            <a:off x="10650000" y="5610000"/>
            <a:ext cx="220000" cy="220000"/>
          </a:xfrm>
          <a:prstGeom prst="roundRect">
            <a:avLst>
              <a:gd name="adj" fmla="val 30000"/>
            </a:avLst>
          </a:prstGeom>
          <a:solidFill>
            <a:srgbClr val="E8B923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10950000" y="5570000"/>
            <a:ext cx="16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9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Fielding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ore Breakdown — Selected Fast Bowler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/>
          <p:nvPr/>
        </p:nvSpPr>
        <p:spPr>
          <a:xfrm>
            <a:off x="640080" y="384048"/>
            <a:ext cx="10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200" b="1" spc="1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EVIDENCE</a:t>
            </a:r>
          </a:p>
        </p:txBody>
      </p:sp>
      <p:sp>
        <p:nvSpPr>
          <p:cNvPr id="0" name="T"/>
          <p:cNvSpPr/>
          <p:nvPr/>
        </p:nvSpPr>
        <p:spPr>
          <a:xfrm>
            <a:off x="640080" y="704088"/>
            <a:ext cx="108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2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Breakdown — Selected Fast Bowlers</a:t>
            </a:r>
          </a:p>
        </p:txBody>
      </p:sp>
      <p:sp>
        <p:nvSpPr>
          <p:cNvPr id="0" name="T"/>
          <p:cNvSpPr/>
          <p:nvPr/>
        </p:nvSpPr>
        <p:spPr>
          <a:xfrm>
            <a:off x="640080" y="1300000"/>
            <a:ext cx="108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11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BoSI decomposed into its weighted components - each selected player's own numbers, not a single blended score</a:t>
            </a:r>
          </a:p>
        </p:txBody>
      </p:sp>
      <p:sp>
        <p:nvSpPr>
          <p:cNvPr id="0" name="T"/>
          <p:cNvSpPr/>
          <p:nvPr/>
        </p:nvSpPr>
        <p:spPr>
          <a:xfrm>
            <a:off x="640080" y="6660000"/>
            <a:ext cx="6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/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Sports | Selection Evidence — Extended Analysis</a:t>
            </a:r>
          </a:p>
        </p:txBody>
      </p:sp>
      <p:sp>
        <p:nvSpPr>
          <p:cNvPr id="0" name="T"/>
          <p:cNvSpPr/>
          <p:nvPr/>
        </p:nvSpPr>
        <p:spPr>
          <a:xfrm>
            <a:off x="11750000" y="666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/>
            <a:r>
              <a:rPr lang="en-US" sz="900" dirty="0">
                <a:solidFill>
                  <a:srgbClr val="9A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</a:p>
        </p:txBody>
      </p:sp>
      <p:sp>
        <p:nvSpPr>
          <p:cNvPr id="0" name="T"/>
          <p:cNvSpPr/>
          <p:nvPr/>
        </p:nvSpPr>
        <p:spPr>
          <a:xfrm>
            <a:off x="640080" y="1900000"/>
            <a:ext cx="228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Morris</a:t>
            </a:r>
          </a:p>
        </p:txBody>
      </p:sp>
      <p:sp>
        <p:nvSpPr>
          <p:cNvPr id="0" name="Bar"/>
          <p:cNvSpPr/>
          <p:nvPr/>
        </p:nvSpPr>
        <p:spPr>
          <a:xfrm>
            <a:off x="3050000" y="1990000"/>
            <a:ext cx="2318683" cy="440000"/>
          </a:xfrm>
          <a:prstGeom prst="rect">
            <a:avLst/>
          </a:prstGeom>
          <a:solidFill>
            <a:srgbClr val="073B29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5368683" y="1990000"/>
            <a:ext cx="1976077" cy="44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7344760" y="1990000"/>
            <a:ext cx="1493017" cy="440000"/>
          </a:xfrm>
          <a:prstGeom prst="rect">
            <a:avLst/>
          </a:prstGeom>
          <a:solidFill>
            <a:srgbClr val="3E9A72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8837778" y="1990000"/>
            <a:ext cx="1053799" cy="440000"/>
          </a:xfrm>
          <a:prstGeom prst="rect">
            <a:avLst/>
          </a:prstGeom>
          <a:solidFill>
            <a:srgbClr val="FFC72C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9891578" y="1990000"/>
            <a:ext cx="658421" cy="440000"/>
          </a:xfrm>
          <a:prstGeom prst="rect">
            <a:avLst/>
          </a:prstGeom>
          <a:solidFill>
            <a:srgbClr val="E8B923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10650000" y="1900000"/>
            <a:ext cx="8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25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92.38</a:t>
            </a:r>
          </a:p>
        </p:txBody>
      </p:sp>
      <p:sp>
        <p:nvSpPr>
          <p:cNvPr id="0" name="T"/>
          <p:cNvSpPr/>
          <p:nvPr/>
        </p:nvSpPr>
        <p:spPr>
          <a:xfrm>
            <a:off x="640080" y="2610000"/>
            <a:ext cx="228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Fergus O'Neill</a:t>
            </a:r>
          </a:p>
        </p:txBody>
      </p:sp>
      <p:sp>
        <p:nvSpPr>
          <p:cNvPr id="0" name="Bar"/>
          <p:cNvSpPr/>
          <p:nvPr/>
        </p:nvSpPr>
        <p:spPr>
          <a:xfrm>
            <a:off x="3050000" y="2700000"/>
            <a:ext cx="2171736" cy="440000"/>
          </a:xfrm>
          <a:prstGeom prst="rect">
            <a:avLst/>
          </a:prstGeom>
          <a:solidFill>
            <a:srgbClr val="073B29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5221736" y="2700000"/>
            <a:ext cx="1470285" cy="44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6692022" y="2700000"/>
            <a:ext cx="1086274" cy="440000"/>
          </a:xfrm>
          <a:prstGeom prst="rect">
            <a:avLst/>
          </a:prstGeom>
          <a:solidFill>
            <a:srgbClr val="3E9A72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7778296" y="2700000"/>
            <a:ext cx="746914" cy="440000"/>
          </a:xfrm>
          <a:prstGeom prst="rect">
            <a:avLst/>
          </a:prstGeom>
          <a:solidFill>
            <a:srgbClr val="FFC72C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8525211" y="2700000"/>
            <a:ext cx="542325" cy="440000"/>
          </a:xfrm>
          <a:prstGeom prst="rect">
            <a:avLst/>
          </a:prstGeom>
          <a:solidFill>
            <a:srgbClr val="E8B923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9167536" y="2610000"/>
            <a:ext cx="8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25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74.12</a:t>
            </a:r>
          </a:p>
        </p:txBody>
      </p:sp>
      <p:sp>
        <p:nvSpPr>
          <p:cNvPr id="0" name="T"/>
          <p:cNvSpPr/>
          <p:nvPr/>
        </p:nvSpPr>
        <p:spPr>
          <a:xfrm>
            <a:off x="640080" y="3320000"/>
            <a:ext cx="228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Bartlett</a:t>
            </a:r>
          </a:p>
        </p:txBody>
      </p:sp>
      <p:sp>
        <p:nvSpPr>
          <p:cNvPr id="0" name="Bar"/>
          <p:cNvSpPr/>
          <p:nvPr/>
        </p:nvSpPr>
        <p:spPr>
          <a:xfrm>
            <a:off x="3050000" y="3410000"/>
            <a:ext cx="1389099" cy="440000"/>
          </a:xfrm>
          <a:prstGeom prst="rect">
            <a:avLst/>
          </a:prstGeom>
          <a:solidFill>
            <a:srgbClr val="073B29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4439099" y="3410000"/>
            <a:ext cx="946633" cy="44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5385732" y="3410000"/>
            <a:ext cx="841903" cy="440000"/>
          </a:xfrm>
          <a:prstGeom prst="rect">
            <a:avLst/>
          </a:prstGeom>
          <a:solidFill>
            <a:srgbClr val="3E9A72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6227635" y="3410000"/>
            <a:ext cx="605650" cy="440000"/>
          </a:xfrm>
          <a:prstGeom prst="rect">
            <a:avLst/>
          </a:prstGeom>
          <a:solidFill>
            <a:srgbClr val="FFC72C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6833286" y="3410000"/>
            <a:ext cx="437594" cy="440000"/>
          </a:xfrm>
          <a:prstGeom prst="rect">
            <a:avLst/>
          </a:prstGeom>
          <a:solidFill>
            <a:srgbClr val="E8B923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7370881" y="3320000"/>
            <a:ext cx="8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25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51.99</a:t>
            </a:r>
          </a:p>
        </p:txBody>
      </p:sp>
      <p:sp>
        <p:nvSpPr>
          <p:cNvPr id="0" name="T"/>
          <p:cNvSpPr/>
          <p:nvPr/>
        </p:nvSpPr>
        <p:spPr>
          <a:xfrm>
            <a:off x="640080" y="4030000"/>
            <a:ext cx="228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Spencer Johnson</a:t>
            </a:r>
          </a:p>
        </p:txBody>
      </p:sp>
      <p:sp>
        <p:nvSpPr>
          <p:cNvPr id="0" name="Bar"/>
          <p:cNvSpPr/>
          <p:nvPr/>
        </p:nvSpPr>
        <p:spPr>
          <a:xfrm>
            <a:off x="3050000" y="4120000"/>
            <a:ext cx="996157" cy="440000"/>
          </a:xfrm>
          <a:prstGeom prst="rect">
            <a:avLst/>
          </a:prstGeom>
          <a:solidFill>
            <a:srgbClr val="073B29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4046157" y="4120000"/>
            <a:ext cx="726618" cy="44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4772775" y="4120000"/>
            <a:ext cx="913347" cy="440000"/>
          </a:xfrm>
          <a:prstGeom prst="rect">
            <a:avLst/>
          </a:prstGeom>
          <a:solidFill>
            <a:srgbClr val="3E9A72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5686122" y="4120000"/>
            <a:ext cx="622699" cy="440000"/>
          </a:xfrm>
          <a:prstGeom prst="rect">
            <a:avLst/>
          </a:prstGeom>
          <a:solidFill>
            <a:srgbClr val="FFC72C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6308822" y="4120000"/>
            <a:ext cx="331240" cy="440000"/>
          </a:xfrm>
          <a:prstGeom prst="rect">
            <a:avLst/>
          </a:prstGeom>
          <a:solidFill>
            <a:srgbClr val="E8B923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6740062" y="4030000"/>
            <a:ext cx="8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25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44.22</a:t>
            </a:r>
          </a:p>
        </p:txBody>
      </p:sp>
      <p:sp>
        <p:nvSpPr>
          <p:cNvPr id="0" name="T"/>
          <p:cNvSpPr/>
          <p:nvPr/>
        </p:nvSpPr>
        <p:spPr>
          <a:xfrm>
            <a:off x="640080" y="4740000"/>
            <a:ext cx="228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1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Brendan Doggett</a:t>
            </a:r>
          </a:p>
        </p:txBody>
      </p:sp>
      <p:sp>
        <p:nvSpPr>
          <p:cNvPr id="0" name="Bar"/>
          <p:cNvSpPr/>
          <p:nvPr/>
        </p:nvSpPr>
        <p:spPr>
          <a:xfrm>
            <a:off x="3050000" y="4830000"/>
            <a:ext cx="860575" cy="440000"/>
          </a:xfrm>
          <a:prstGeom prst="rect">
            <a:avLst/>
          </a:prstGeom>
          <a:solidFill>
            <a:srgbClr val="073B29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3910575" y="4830000"/>
            <a:ext cx="716875" cy="44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4627451" y="4830000"/>
            <a:ext cx="612145" cy="440000"/>
          </a:xfrm>
          <a:prstGeom prst="rect">
            <a:avLst/>
          </a:prstGeom>
          <a:solidFill>
            <a:srgbClr val="3E9A72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5239597" y="4830000"/>
            <a:ext cx="401872" cy="440000"/>
          </a:xfrm>
          <a:prstGeom prst="rect">
            <a:avLst/>
          </a:prstGeom>
          <a:solidFill>
            <a:srgbClr val="FFC72C"/>
          </a:solidFill>
          <a:ln>
            <a:noFill/>
          </a:ln>
        </p:spPr>
      </p:sp>
      <p:sp>
        <p:nvSpPr>
          <p:cNvPr id="0" name="Bar"/>
          <p:cNvSpPr/>
          <p:nvPr/>
        </p:nvSpPr>
        <p:spPr>
          <a:xfrm>
            <a:off x="5641470" y="4830000"/>
            <a:ext cx="333676" cy="440000"/>
          </a:xfrm>
          <a:prstGeom prst="rect">
            <a:avLst/>
          </a:prstGeom>
          <a:solidFill>
            <a:srgbClr val="E8B923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6075146" y="4740000"/>
            <a:ext cx="8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125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36.03</a:t>
            </a:r>
          </a:p>
        </p:txBody>
      </p:sp>
      <p:sp>
        <p:nvSpPr>
          <p:cNvPr id="0" name="Bar"/>
          <p:cNvSpPr/>
          <p:nvPr/>
        </p:nvSpPr>
        <p:spPr>
          <a:xfrm>
            <a:off x="3050000" y="5610000"/>
            <a:ext cx="220000" cy="220000"/>
          </a:xfrm>
          <a:prstGeom prst="roundRect">
            <a:avLst>
              <a:gd name="adj" fmla="val 30000"/>
            </a:avLst>
          </a:prstGeom>
          <a:solidFill>
            <a:srgbClr val="073B29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3350000" y="5570000"/>
            <a:ext cx="16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9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</a:p>
        </p:txBody>
      </p:sp>
      <p:sp>
        <p:nvSpPr>
          <p:cNvPr id="0" name="Bar"/>
          <p:cNvSpPr/>
          <p:nvPr/>
        </p:nvSpPr>
        <p:spPr>
          <a:xfrm>
            <a:off x="4950000" y="5610000"/>
            <a:ext cx="220000" cy="220000"/>
          </a:xfrm>
          <a:prstGeom prst="roundRect">
            <a:avLst>
              <a:gd name="adj" fmla="val 30000"/>
            </a:avLst>
          </a:prstGeom>
          <a:solidFill>
            <a:srgbClr val="0B6E4F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5250000" y="5570000"/>
            <a:ext cx="16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9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</a:p>
        </p:txBody>
      </p:sp>
      <p:sp>
        <p:nvSpPr>
          <p:cNvPr id="0" name="Bar"/>
          <p:cNvSpPr/>
          <p:nvPr/>
        </p:nvSpPr>
        <p:spPr>
          <a:xfrm>
            <a:off x="6850000" y="5610000"/>
            <a:ext cx="220000" cy="220000"/>
          </a:xfrm>
          <a:prstGeom prst="roundRect">
            <a:avLst>
              <a:gd name="adj" fmla="val 30000"/>
            </a:avLst>
          </a:prstGeom>
          <a:solidFill>
            <a:srgbClr val="3E9A72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7150000" y="5570000"/>
            <a:ext cx="16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9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Rate</a:t>
            </a:r>
          </a:p>
        </p:txBody>
      </p:sp>
      <p:sp>
        <p:nvSpPr>
          <p:cNvPr id="0" name="Bar"/>
          <p:cNvSpPr/>
          <p:nvPr/>
        </p:nvSpPr>
        <p:spPr>
          <a:xfrm>
            <a:off x="8750000" y="5610000"/>
            <a:ext cx="220000" cy="220000"/>
          </a:xfrm>
          <a:prstGeom prst="roundRect">
            <a:avLst>
              <a:gd name="adj" fmla="val 30000"/>
            </a:avLst>
          </a:prstGeom>
          <a:solidFill>
            <a:srgbClr val="FFC72C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9050000" y="5570000"/>
            <a:ext cx="16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9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Form</a:t>
            </a:r>
          </a:p>
        </p:txBody>
      </p:sp>
      <p:sp>
        <p:nvSpPr>
          <p:cNvPr id="0" name="Bar"/>
          <p:cNvSpPr/>
          <p:nvPr/>
        </p:nvSpPr>
        <p:spPr>
          <a:xfrm>
            <a:off x="10650000" y="5610000"/>
            <a:ext cx="220000" cy="220000"/>
          </a:xfrm>
          <a:prstGeom prst="roundRect">
            <a:avLst>
              <a:gd name="adj" fmla="val 30000"/>
            </a:avLst>
          </a:prstGeom>
          <a:solidFill>
            <a:srgbClr val="E8B923"/>
          </a:solidFill>
          <a:ln>
            <a:noFill/>
          </a:ln>
        </p:spPr>
      </p:sp>
      <p:sp>
        <p:nvSpPr>
          <p:cNvPr id="0" name="T"/>
          <p:cNvSpPr/>
          <p:nvPr/>
        </p:nvSpPr>
        <p:spPr>
          <a:xfrm>
            <a:off x="10950000" y="5570000"/>
            <a:ext cx="16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/>
            <a:r>
              <a:rPr lang="en-US" sz="9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2026-08-08T13:13:57Z</dcterms:created>
  <dcterms:modified xsi:type="dcterms:W3CDTF">2026-08-08T13:13:57Z</dcterms:modified>
</cp:coreProperties>
</file>